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8.xml" ContentType="application/vnd.openxmlformats-officedocument.theme+xml"/>
  <Override PartName="/ppt/slideLayouts/slideLayout31.xml" ContentType="application/vnd.openxmlformats-officedocument.presentationml.slideLayout+xml"/>
  <Override PartName="/ppt/theme/theme9.xml" ContentType="application/vnd.openxmlformats-officedocument.theme+xml"/>
  <Override PartName="/ppt/slideLayouts/slideLayout32.xml" ContentType="application/vnd.openxmlformats-officedocument.presentationml.slideLayout+xml"/>
  <Override PartName="/ppt/theme/theme10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1.xml" ContentType="application/vnd.openxmlformats-officedocument.theme+xml"/>
  <Override PartName="/ppt/slideLayouts/slideLayout36.xml" ContentType="application/vnd.openxmlformats-officedocument.presentationml.slideLayout+xml"/>
  <Override PartName="/ppt/theme/theme1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3.xml" ContentType="application/vnd.openxmlformats-officedocument.theme+xml"/>
  <Override PartName="/ppt/slideLayouts/slideLayout44.xml" ContentType="application/vnd.openxmlformats-officedocument.presentationml.slideLayout+xml"/>
  <Override PartName="/ppt/theme/theme14.xml" ContentType="application/vnd.openxmlformats-officedocument.theme+xml"/>
  <Override PartName="/ppt/slideLayouts/slideLayout4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3" r:id="rId2"/>
    <p:sldMasterId id="2147483672" r:id="rId3"/>
    <p:sldMasterId id="2147483674" r:id="rId4"/>
    <p:sldMasterId id="2147483677" r:id="rId5"/>
    <p:sldMasterId id="2147483683" r:id="rId6"/>
    <p:sldMasterId id="2147483687" r:id="rId7"/>
    <p:sldMasterId id="2147483689" r:id="rId8"/>
    <p:sldMasterId id="2147483697" r:id="rId9"/>
    <p:sldMasterId id="2147483699" r:id="rId10"/>
    <p:sldMasterId id="2147483701" r:id="rId11"/>
    <p:sldMasterId id="2147483705" r:id="rId12"/>
    <p:sldMasterId id="2147483707" r:id="rId13"/>
    <p:sldMasterId id="2147483715" r:id="rId14"/>
    <p:sldMasterId id="2147483717" r:id="rId15"/>
  </p:sldMasterIdLst>
  <p:notesMasterIdLst>
    <p:notesMasterId r:id="rId27"/>
  </p:notesMasterIdLst>
  <p:handoutMasterIdLst>
    <p:handoutMasterId r:id="rId28"/>
  </p:handoutMasterIdLst>
  <p:sldIdLst>
    <p:sldId id="256" r:id="rId16"/>
    <p:sldId id="272" r:id="rId17"/>
    <p:sldId id="261" r:id="rId18"/>
    <p:sldId id="278" r:id="rId19"/>
    <p:sldId id="273" r:id="rId20"/>
    <p:sldId id="280" r:id="rId21"/>
    <p:sldId id="285" r:id="rId22"/>
    <p:sldId id="286" r:id="rId23"/>
    <p:sldId id="284" r:id="rId24"/>
    <p:sldId id="287" r:id="rId25"/>
    <p:sldId id="264" r:id="rId26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35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pattFill prst="narHorz">
              <a:fgClr>
                <a:schemeClr val="accent1">
                  <a:tint val="77000"/>
                </a:schemeClr>
              </a:fgClr>
              <a:bgClr>
                <a:schemeClr val="accent1">
                  <a:tint val="77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>
                  <a:tint val="77000"/>
                </a:schemeClr>
              </a:innerShdw>
            </a:effectLst>
          </c:spPr>
          <c:invertIfNegative val="0"/>
          <c:cat>
            <c:strRef>
              <c:f>Sheet1!$A$2:$A$8</c:f>
              <c:strCache>
                <c:ptCount val="7"/>
                <c:pt idx="0">
                  <c:v>Research &amp; Setup</c:v>
                </c:pt>
                <c:pt idx="1">
                  <c:v>Core Agent Development</c:v>
                </c:pt>
                <c:pt idx="2">
                  <c:v>Backend Development</c:v>
                </c:pt>
                <c:pt idx="3">
                  <c:v>Frontend Development</c:v>
                </c:pt>
                <c:pt idx="4">
                  <c:v>Integration &amp; Testing</c:v>
                </c:pt>
                <c:pt idx="5">
                  <c:v>Evaluation &amp; Docs</c:v>
                </c:pt>
                <c:pt idx="6">
                  <c:v>Presentation Prep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45620</c:v>
                </c:pt>
                <c:pt idx="1">
                  <c:v>45642</c:v>
                </c:pt>
                <c:pt idx="2">
                  <c:v>45642</c:v>
                </c:pt>
                <c:pt idx="3">
                  <c:v>45658</c:v>
                </c:pt>
                <c:pt idx="4">
                  <c:v>45663</c:v>
                </c:pt>
                <c:pt idx="5">
                  <c:v>45671</c:v>
                </c:pt>
                <c:pt idx="6">
                  <c:v>45684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2-45CF-A407-81733872C0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</c:v>
                </c:pt>
              </c:strCache>
            </c:strRef>
          </c:tx>
          <c:spPr>
            <a:pattFill prst="narHorz">
              <a:fgClr>
                <a:schemeClr val="accent1">
                  <a:shade val="76000"/>
                </a:schemeClr>
              </a:fgClr>
              <a:bgClr>
                <a:schemeClr val="accent1">
                  <a:shade val="76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>
                  <a:shade val="76000"/>
                </a:schemeClr>
              </a:innerShdw>
            </a:effectLst>
          </c:spPr>
          <c:invertIfNegative val="0"/>
          <c:cat>
            <c:strRef>
              <c:f>Sheet1!$A$2:$A$8</c:f>
              <c:strCache>
                <c:ptCount val="7"/>
                <c:pt idx="0">
                  <c:v>Research &amp; Setup</c:v>
                </c:pt>
                <c:pt idx="1">
                  <c:v>Core Agent Development</c:v>
                </c:pt>
                <c:pt idx="2">
                  <c:v>Backend Development</c:v>
                </c:pt>
                <c:pt idx="3">
                  <c:v>Frontend Development</c:v>
                </c:pt>
                <c:pt idx="4">
                  <c:v>Integration &amp; Testing</c:v>
                </c:pt>
                <c:pt idx="5">
                  <c:v>Evaluation &amp; Docs</c:v>
                </c:pt>
                <c:pt idx="6">
                  <c:v>Presentation Prep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</c:v>
                </c:pt>
                <c:pt idx="1">
                  <c:v>16</c:v>
                </c:pt>
                <c:pt idx="2">
                  <c:v>16</c:v>
                </c:pt>
                <c:pt idx="3">
                  <c:v>5</c:v>
                </c:pt>
                <c:pt idx="4">
                  <c:v>8</c:v>
                </c:pt>
                <c:pt idx="5">
                  <c:v>13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C2-45CF-A407-81733872C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698"/>
          <c:min val="45606"/>
        </c:scaling>
        <c:delete val="0"/>
        <c:axPos val="b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d\ mmm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55D0BC-B107-4B29-A945-7E3B72873BF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940B38-0CAE-4F8B-B178-593AF7C124E6}">
      <dgm:prSet/>
      <dgm:spPr/>
      <dgm:t>
        <a:bodyPr/>
        <a:lstStyle/>
        <a:p>
          <a:r>
            <a:rPr lang="en-US" b="1" i="0" baseline="0"/>
            <a:t>1. Fine-Grained Localization (AST-Based)</a:t>
          </a:r>
          <a:endParaRPr lang="en-US"/>
        </a:p>
      </dgm:t>
    </dgm:pt>
    <dgm:pt modelId="{8ABA058F-1E03-44B8-BB79-19D68ED99B38}" type="parTrans" cxnId="{E0824B87-44D7-4DC8-8FBE-DC45424173B9}">
      <dgm:prSet/>
      <dgm:spPr/>
      <dgm:t>
        <a:bodyPr/>
        <a:lstStyle/>
        <a:p>
          <a:endParaRPr lang="en-US"/>
        </a:p>
      </dgm:t>
    </dgm:pt>
    <dgm:pt modelId="{F55A2D52-37EE-4503-99F0-94111789B6E5}" type="sibTrans" cxnId="{E0824B87-44D7-4DC8-8FBE-DC45424173B9}">
      <dgm:prSet/>
      <dgm:spPr/>
      <dgm:t>
        <a:bodyPr/>
        <a:lstStyle/>
        <a:p>
          <a:endParaRPr lang="en-US"/>
        </a:p>
      </dgm:t>
    </dgm:pt>
    <dgm:pt modelId="{BBF0A849-AC3E-4A12-B0C1-ED08541863CF}">
      <dgm:prSet/>
      <dgm:spPr/>
      <dgm:t>
        <a:bodyPr/>
        <a:lstStyle/>
        <a:p>
          <a:r>
            <a:rPr lang="en-US" b="1" i="0" baseline="0"/>
            <a:t>Problem:</a:t>
          </a:r>
          <a:r>
            <a:rPr lang="en-US" b="0" i="0" baseline="0"/>
            <a:t> File-level context causes "Context Pollution" for Gemini Flash.</a:t>
          </a:r>
          <a:endParaRPr lang="en-US"/>
        </a:p>
      </dgm:t>
    </dgm:pt>
    <dgm:pt modelId="{B4C107E9-100C-49ED-9588-04B5F8A96682}" type="parTrans" cxnId="{B2C69103-2F68-4DD2-BD90-DF31BF397C58}">
      <dgm:prSet/>
      <dgm:spPr/>
      <dgm:t>
        <a:bodyPr/>
        <a:lstStyle/>
        <a:p>
          <a:endParaRPr lang="en-US"/>
        </a:p>
      </dgm:t>
    </dgm:pt>
    <dgm:pt modelId="{6D40D517-DE1A-4604-BCA3-F0B9774EDBDF}" type="sibTrans" cxnId="{B2C69103-2F68-4DD2-BD90-DF31BF397C58}">
      <dgm:prSet/>
      <dgm:spPr/>
      <dgm:t>
        <a:bodyPr/>
        <a:lstStyle/>
        <a:p>
          <a:endParaRPr lang="en-US"/>
        </a:p>
      </dgm:t>
    </dgm:pt>
    <dgm:pt modelId="{3B1EDD44-96CC-4BBD-87AA-AA213844AF97}">
      <dgm:prSet/>
      <dgm:spPr/>
      <dgm:t>
        <a:bodyPr/>
        <a:lstStyle/>
        <a:p>
          <a:r>
            <a:rPr lang="en-US" b="1" i="0" baseline="0"/>
            <a:t>Plan:</a:t>
          </a:r>
          <a:r>
            <a:rPr lang="en-US" b="0" i="0" baseline="0"/>
            <a:t> Implement AST parsing to retrieve specific functions/classes (similar to Agentless ).</a:t>
          </a:r>
          <a:endParaRPr lang="en-US"/>
        </a:p>
      </dgm:t>
    </dgm:pt>
    <dgm:pt modelId="{D09A885B-12FE-411D-9BD2-84CDE6102BA9}" type="parTrans" cxnId="{FBDEFA57-7DE7-49B9-B6D8-5988244B4FBB}">
      <dgm:prSet/>
      <dgm:spPr/>
      <dgm:t>
        <a:bodyPr/>
        <a:lstStyle/>
        <a:p>
          <a:endParaRPr lang="en-US"/>
        </a:p>
      </dgm:t>
    </dgm:pt>
    <dgm:pt modelId="{79ACAA1F-D695-4C9E-872D-A53F63151EBA}" type="sibTrans" cxnId="{FBDEFA57-7DE7-49B9-B6D8-5988244B4FBB}">
      <dgm:prSet/>
      <dgm:spPr/>
      <dgm:t>
        <a:bodyPr/>
        <a:lstStyle/>
        <a:p>
          <a:endParaRPr lang="en-US"/>
        </a:p>
      </dgm:t>
    </dgm:pt>
    <dgm:pt modelId="{817D69AA-4693-47F9-B7B6-DB94DDC43242}">
      <dgm:prSet/>
      <dgm:spPr/>
      <dgm:t>
        <a:bodyPr/>
        <a:lstStyle/>
        <a:p>
          <a:r>
            <a:rPr lang="en-US" b="1" i="0" baseline="0"/>
            <a:t>2. Iterative Self-Healing</a:t>
          </a:r>
          <a:endParaRPr lang="en-US"/>
        </a:p>
      </dgm:t>
    </dgm:pt>
    <dgm:pt modelId="{063D91F4-9C73-48CB-8A30-A67E9FC966A9}" type="parTrans" cxnId="{A177A295-9CB0-43CE-B83E-91FAED029F53}">
      <dgm:prSet/>
      <dgm:spPr/>
      <dgm:t>
        <a:bodyPr/>
        <a:lstStyle/>
        <a:p>
          <a:endParaRPr lang="en-US"/>
        </a:p>
      </dgm:t>
    </dgm:pt>
    <dgm:pt modelId="{3B015296-88EA-413E-88FF-120CCA278A2B}" type="sibTrans" cxnId="{A177A295-9CB0-43CE-B83E-91FAED029F53}">
      <dgm:prSet/>
      <dgm:spPr/>
      <dgm:t>
        <a:bodyPr/>
        <a:lstStyle/>
        <a:p>
          <a:endParaRPr lang="en-US"/>
        </a:p>
      </dgm:t>
    </dgm:pt>
    <dgm:pt modelId="{BFAE622C-A029-45D8-9631-0B8E6D103E04}">
      <dgm:prSet/>
      <dgm:spPr/>
      <dgm:t>
        <a:bodyPr/>
        <a:lstStyle/>
        <a:p>
          <a:r>
            <a:rPr lang="en-US" b="1" i="0" baseline="0"/>
            <a:t>Problem:</a:t>
          </a:r>
          <a:r>
            <a:rPr lang="en-US" b="0" i="0" baseline="0"/>
            <a:t> Single-pass generation leads to a low Applied Rate (~29%).</a:t>
          </a:r>
          <a:endParaRPr lang="en-US"/>
        </a:p>
      </dgm:t>
    </dgm:pt>
    <dgm:pt modelId="{D17A5897-9D65-4210-9A37-869D78CEEC69}" type="parTrans" cxnId="{127019EB-79E8-4A78-BF60-F3F068C07CD5}">
      <dgm:prSet/>
      <dgm:spPr/>
      <dgm:t>
        <a:bodyPr/>
        <a:lstStyle/>
        <a:p>
          <a:endParaRPr lang="en-US"/>
        </a:p>
      </dgm:t>
    </dgm:pt>
    <dgm:pt modelId="{00754531-42A3-455D-BEDC-32C51B31DB9F}" type="sibTrans" cxnId="{127019EB-79E8-4A78-BF60-F3F068C07CD5}">
      <dgm:prSet/>
      <dgm:spPr/>
      <dgm:t>
        <a:bodyPr/>
        <a:lstStyle/>
        <a:p>
          <a:endParaRPr lang="en-US"/>
        </a:p>
      </dgm:t>
    </dgm:pt>
    <dgm:pt modelId="{13C4D1F2-1899-498F-97A3-FD9804161FAF}">
      <dgm:prSet/>
      <dgm:spPr/>
      <dgm:t>
        <a:bodyPr/>
        <a:lstStyle/>
        <a:p>
          <a:r>
            <a:rPr lang="en-US" b="1" i="0" baseline="0"/>
            <a:t>Plan:</a:t>
          </a:r>
          <a:r>
            <a:rPr lang="en-US" b="0" i="0" baseline="0"/>
            <a:t> Feed git apply errors back to the agent to auto-correct syntax.</a:t>
          </a:r>
          <a:endParaRPr lang="en-US"/>
        </a:p>
      </dgm:t>
    </dgm:pt>
    <dgm:pt modelId="{23FCFE22-5437-46D7-847A-1ECAA992920C}" type="parTrans" cxnId="{ACA01972-D29F-4124-8DA6-9A3734542142}">
      <dgm:prSet/>
      <dgm:spPr/>
      <dgm:t>
        <a:bodyPr/>
        <a:lstStyle/>
        <a:p>
          <a:endParaRPr lang="en-US"/>
        </a:p>
      </dgm:t>
    </dgm:pt>
    <dgm:pt modelId="{1A2F36CF-1B96-4B8F-A56D-30DAE6819993}" type="sibTrans" cxnId="{ACA01972-D29F-4124-8DA6-9A3734542142}">
      <dgm:prSet/>
      <dgm:spPr/>
      <dgm:t>
        <a:bodyPr/>
        <a:lstStyle/>
        <a:p>
          <a:endParaRPr lang="en-US"/>
        </a:p>
      </dgm:t>
    </dgm:pt>
    <dgm:pt modelId="{31B12A5B-5668-4E2E-BC44-0A2FD8141D8A}">
      <dgm:prSet/>
      <dgm:spPr/>
      <dgm:t>
        <a:bodyPr/>
        <a:lstStyle/>
        <a:p>
          <a:r>
            <a:rPr lang="en-US" b="1" i="0" baseline="0" dirty="0"/>
            <a:t>3. UI Function for user’s own repo</a:t>
          </a:r>
          <a:endParaRPr lang="en-US" dirty="0"/>
        </a:p>
      </dgm:t>
    </dgm:pt>
    <dgm:pt modelId="{0BD7CFCD-AFC6-4689-AAF1-5A886A9850D4}" type="parTrans" cxnId="{18181EDE-6A3B-4895-8886-762A8A5EC1D1}">
      <dgm:prSet/>
      <dgm:spPr/>
      <dgm:t>
        <a:bodyPr/>
        <a:lstStyle/>
        <a:p>
          <a:endParaRPr lang="en-US"/>
        </a:p>
      </dgm:t>
    </dgm:pt>
    <dgm:pt modelId="{4DF8B316-DFA2-4CAE-8905-1C8BC02383B1}" type="sibTrans" cxnId="{18181EDE-6A3B-4895-8886-762A8A5EC1D1}">
      <dgm:prSet/>
      <dgm:spPr/>
      <dgm:t>
        <a:bodyPr/>
        <a:lstStyle/>
        <a:p>
          <a:endParaRPr lang="en-US"/>
        </a:p>
      </dgm:t>
    </dgm:pt>
    <dgm:pt modelId="{08558882-B67B-42F2-80C3-55032423F044}">
      <dgm:prSet/>
      <dgm:spPr/>
      <dgm:t>
        <a:bodyPr/>
        <a:lstStyle/>
        <a:p>
          <a:r>
            <a:rPr lang="en-US" b="1" i="0" baseline="0" dirty="0"/>
            <a:t>Problem:</a:t>
          </a:r>
          <a:r>
            <a:rPr lang="en-US" b="0" i="0" baseline="0" dirty="0"/>
            <a:t> Apply a feature for user to upload their own repo</a:t>
          </a:r>
          <a:endParaRPr lang="en-US" dirty="0"/>
        </a:p>
      </dgm:t>
    </dgm:pt>
    <dgm:pt modelId="{EA2DFFD7-A1C4-405E-9AFF-8E54773DDD7E}" type="parTrans" cxnId="{835DC138-AF8D-41F2-AA36-D2A5F7F5294B}">
      <dgm:prSet/>
      <dgm:spPr/>
      <dgm:t>
        <a:bodyPr/>
        <a:lstStyle/>
        <a:p>
          <a:endParaRPr lang="en-US"/>
        </a:p>
      </dgm:t>
    </dgm:pt>
    <dgm:pt modelId="{3279EAFD-E38B-482D-8E75-3019E37621CF}" type="sibTrans" cxnId="{835DC138-AF8D-41F2-AA36-D2A5F7F5294B}">
      <dgm:prSet/>
      <dgm:spPr/>
      <dgm:t>
        <a:bodyPr/>
        <a:lstStyle/>
        <a:p>
          <a:endParaRPr lang="en-US"/>
        </a:p>
      </dgm:t>
    </dgm:pt>
    <dgm:pt modelId="{CDF14401-0898-48B4-AD40-14B8DF5EBC5F}">
      <dgm:prSet/>
      <dgm:spPr/>
      <dgm:t>
        <a:bodyPr/>
        <a:lstStyle/>
        <a:p>
          <a:r>
            <a:rPr lang="en-US" b="1" i="0" baseline="0" dirty="0"/>
            <a:t>Plan:</a:t>
          </a:r>
          <a:r>
            <a:rPr lang="en-US" b="0" i="0" baseline="0" dirty="0"/>
            <a:t> Integrate the pipeline with the new repo (not in our backend yet)</a:t>
          </a:r>
          <a:endParaRPr lang="en-US" dirty="0"/>
        </a:p>
      </dgm:t>
    </dgm:pt>
    <dgm:pt modelId="{4FD907E6-AB7D-40A6-8ACB-36983A84668E}" type="parTrans" cxnId="{28457EB5-C925-4081-9A18-39BD2F166C2F}">
      <dgm:prSet/>
      <dgm:spPr/>
      <dgm:t>
        <a:bodyPr/>
        <a:lstStyle/>
        <a:p>
          <a:endParaRPr lang="en-US"/>
        </a:p>
      </dgm:t>
    </dgm:pt>
    <dgm:pt modelId="{9696538E-944B-4DA5-B053-97ED7026CDFA}" type="sibTrans" cxnId="{28457EB5-C925-4081-9A18-39BD2F166C2F}">
      <dgm:prSet/>
      <dgm:spPr/>
      <dgm:t>
        <a:bodyPr/>
        <a:lstStyle/>
        <a:p>
          <a:endParaRPr lang="en-US"/>
        </a:p>
      </dgm:t>
    </dgm:pt>
    <dgm:pt modelId="{8EA87A22-B92A-43F6-BE25-FA6D8B66DA48}" type="pres">
      <dgm:prSet presAssocID="{3155D0BC-B107-4B29-A945-7E3B72873BFC}" presName="Name0" presStyleCnt="0">
        <dgm:presLayoutVars>
          <dgm:dir/>
          <dgm:animLvl val="lvl"/>
          <dgm:resizeHandles val="exact"/>
        </dgm:presLayoutVars>
      </dgm:prSet>
      <dgm:spPr/>
    </dgm:pt>
    <dgm:pt modelId="{754FFA75-4727-4E4C-B423-68BF72420ED7}" type="pres">
      <dgm:prSet presAssocID="{17940B38-0CAE-4F8B-B178-593AF7C124E6}" presName="linNode" presStyleCnt="0"/>
      <dgm:spPr/>
    </dgm:pt>
    <dgm:pt modelId="{761D93F3-7084-4612-B6A3-B4377341F95F}" type="pres">
      <dgm:prSet presAssocID="{17940B38-0CAE-4F8B-B178-593AF7C124E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59729F6-38B4-429D-B5BB-B03F190FBB34}" type="pres">
      <dgm:prSet presAssocID="{17940B38-0CAE-4F8B-B178-593AF7C124E6}" presName="descendantText" presStyleLbl="alignAccFollowNode1" presStyleIdx="0" presStyleCnt="3">
        <dgm:presLayoutVars>
          <dgm:bulletEnabled val="1"/>
        </dgm:presLayoutVars>
      </dgm:prSet>
      <dgm:spPr/>
    </dgm:pt>
    <dgm:pt modelId="{9EF2379F-2B9B-4D33-AA67-B416F56B8C82}" type="pres">
      <dgm:prSet presAssocID="{F55A2D52-37EE-4503-99F0-94111789B6E5}" presName="sp" presStyleCnt="0"/>
      <dgm:spPr/>
    </dgm:pt>
    <dgm:pt modelId="{FC7C28DF-AAFC-4FA4-91B2-A6F9D6B73578}" type="pres">
      <dgm:prSet presAssocID="{817D69AA-4693-47F9-B7B6-DB94DDC43242}" presName="linNode" presStyleCnt="0"/>
      <dgm:spPr/>
    </dgm:pt>
    <dgm:pt modelId="{17B30675-BB87-4CFD-A799-506D6E5238C1}" type="pres">
      <dgm:prSet presAssocID="{817D69AA-4693-47F9-B7B6-DB94DDC432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DA449A5-B775-4216-BADA-083794B0DC3F}" type="pres">
      <dgm:prSet presAssocID="{817D69AA-4693-47F9-B7B6-DB94DDC43242}" presName="descendantText" presStyleLbl="alignAccFollowNode1" presStyleIdx="1" presStyleCnt="3">
        <dgm:presLayoutVars>
          <dgm:bulletEnabled val="1"/>
        </dgm:presLayoutVars>
      </dgm:prSet>
      <dgm:spPr/>
    </dgm:pt>
    <dgm:pt modelId="{C3759D1B-A469-41FD-B03E-6A081CD807BC}" type="pres">
      <dgm:prSet presAssocID="{3B015296-88EA-413E-88FF-120CCA278A2B}" presName="sp" presStyleCnt="0"/>
      <dgm:spPr/>
    </dgm:pt>
    <dgm:pt modelId="{EDAE99CC-7A59-4B83-B540-E7CA8A5171BA}" type="pres">
      <dgm:prSet presAssocID="{31B12A5B-5668-4E2E-BC44-0A2FD8141D8A}" presName="linNode" presStyleCnt="0"/>
      <dgm:spPr/>
    </dgm:pt>
    <dgm:pt modelId="{20203336-627B-4D3C-91C0-8B19FF4B56AA}" type="pres">
      <dgm:prSet presAssocID="{31B12A5B-5668-4E2E-BC44-0A2FD8141D8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6AB5C19-9A18-4FD0-9D32-28E8DE290429}" type="pres">
      <dgm:prSet presAssocID="{31B12A5B-5668-4E2E-BC44-0A2FD8141D8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2C69103-2F68-4DD2-BD90-DF31BF397C58}" srcId="{17940B38-0CAE-4F8B-B178-593AF7C124E6}" destId="{BBF0A849-AC3E-4A12-B0C1-ED08541863CF}" srcOrd="0" destOrd="0" parTransId="{B4C107E9-100C-49ED-9588-04B5F8A96682}" sibTransId="{6D40D517-DE1A-4604-BCA3-F0B9774EDBDF}"/>
    <dgm:cxn modelId="{094BFB0C-894C-4818-9B4C-CD97A6B827BE}" type="presOf" srcId="{31B12A5B-5668-4E2E-BC44-0A2FD8141D8A}" destId="{20203336-627B-4D3C-91C0-8B19FF4B56AA}" srcOrd="0" destOrd="0" presId="urn:microsoft.com/office/officeart/2005/8/layout/vList5"/>
    <dgm:cxn modelId="{C4770226-B5F3-476F-BCCC-26EA3CC7B661}" type="presOf" srcId="{13C4D1F2-1899-498F-97A3-FD9804161FAF}" destId="{BDA449A5-B775-4216-BADA-083794B0DC3F}" srcOrd="0" destOrd="1" presId="urn:microsoft.com/office/officeart/2005/8/layout/vList5"/>
    <dgm:cxn modelId="{835DC138-AF8D-41F2-AA36-D2A5F7F5294B}" srcId="{31B12A5B-5668-4E2E-BC44-0A2FD8141D8A}" destId="{08558882-B67B-42F2-80C3-55032423F044}" srcOrd="0" destOrd="0" parTransId="{EA2DFFD7-A1C4-405E-9AFF-8E54773DDD7E}" sibTransId="{3279EAFD-E38B-482D-8E75-3019E37621CF}"/>
    <dgm:cxn modelId="{CA6D2142-A779-4FA7-8D9E-CD0CA61B8C3B}" type="presOf" srcId="{17940B38-0CAE-4F8B-B178-593AF7C124E6}" destId="{761D93F3-7084-4612-B6A3-B4377341F95F}" srcOrd="0" destOrd="0" presId="urn:microsoft.com/office/officeart/2005/8/layout/vList5"/>
    <dgm:cxn modelId="{ACA01972-D29F-4124-8DA6-9A3734542142}" srcId="{817D69AA-4693-47F9-B7B6-DB94DDC43242}" destId="{13C4D1F2-1899-498F-97A3-FD9804161FAF}" srcOrd="1" destOrd="0" parTransId="{23FCFE22-5437-46D7-847A-1ECAA992920C}" sibTransId="{1A2F36CF-1B96-4B8F-A56D-30DAE6819993}"/>
    <dgm:cxn modelId="{F7AB7977-6E79-45D4-9AE3-6A21EE55FD27}" type="presOf" srcId="{BFAE622C-A029-45D8-9631-0B8E6D103E04}" destId="{BDA449A5-B775-4216-BADA-083794B0DC3F}" srcOrd="0" destOrd="0" presId="urn:microsoft.com/office/officeart/2005/8/layout/vList5"/>
    <dgm:cxn modelId="{FBDEFA57-7DE7-49B9-B6D8-5988244B4FBB}" srcId="{17940B38-0CAE-4F8B-B178-593AF7C124E6}" destId="{3B1EDD44-96CC-4BBD-87AA-AA213844AF97}" srcOrd="1" destOrd="0" parTransId="{D09A885B-12FE-411D-9BD2-84CDE6102BA9}" sibTransId="{79ACAA1F-D695-4C9E-872D-A53F63151EBA}"/>
    <dgm:cxn modelId="{59232C87-E7D9-4D1A-9DF9-4B5761EB884E}" type="presOf" srcId="{08558882-B67B-42F2-80C3-55032423F044}" destId="{66AB5C19-9A18-4FD0-9D32-28E8DE290429}" srcOrd="0" destOrd="0" presId="urn:microsoft.com/office/officeart/2005/8/layout/vList5"/>
    <dgm:cxn modelId="{E0824B87-44D7-4DC8-8FBE-DC45424173B9}" srcId="{3155D0BC-B107-4B29-A945-7E3B72873BFC}" destId="{17940B38-0CAE-4F8B-B178-593AF7C124E6}" srcOrd="0" destOrd="0" parTransId="{8ABA058F-1E03-44B8-BB79-19D68ED99B38}" sibTransId="{F55A2D52-37EE-4503-99F0-94111789B6E5}"/>
    <dgm:cxn modelId="{A177A295-9CB0-43CE-B83E-91FAED029F53}" srcId="{3155D0BC-B107-4B29-A945-7E3B72873BFC}" destId="{817D69AA-4693-47F9-B7B6-DB94DDC43242}" srcOrd="1" destOrd="0" parTransId="{063D91F4-9C73-48CB-8A30-A67E9FC966A9}" sibTransId="{3B015296-88EA-413E-88FF-120CCA278A2B}"/>
    <dgm:cxn modelId="{912BE7AF-2714-4B9A-81A1-ACE375E9AFF7}" type="presOf" srcId="{3155D0BC-B107-4B29-A945-7E3B72873BFC}" destId="{8EA87A22-B92A-43F6-BE25-FA6D8B66DA48}" srcOrd="0" destOrd="0" presId="urn:microsoft.com/office/officeart/2005/8/layout/vList5"/>
    <dgm:cxn modelId="{28457EB5-C925-4081-9A18-39BD2F166C2F}" srcId="{31B12A5B-5668-4E2E-BC44-0A2FD8141D8A}" destId="{CDF14401-0898-48B4-AD40-14B8DF5EBC5F}" srcOrd="1" destOrd="0" parTransId="{4FD907E6-AB7D-40A6-8ACB-36983A84668E}" sibTransId="{9696538E-944B-4DA5-B053-97ED7026CDFA}"/>
    <dgm:cxn modelId="{E23E9ADC-2975-4CAD-8CD4-0F88699FEA04}" type="presOf" srcId="{3B1EDD44-96CC-4BBD-87AA-AA213844AF97}" destId="{659729F6-38B4-429D-B5BB-B03F190FBB34}" srcOrd="0" destOrd="1" presId="urn:microsoft.com/office/officeart/2005/8/layout/vList5"/>
    <dgm:cxn modelId="{B52661DD-D238-447D-820E-0568FA98DEAC}" type="presOf" srcId="{BBF0A849-AC3E-4A12-B0C1-ED08541863CF}" destId="{659729F6-38B4-429D-B5BB-B03F190FBB34}" srcOrd="0" destOrd="0" presId="urn:microsoft.com/office/officeart/2005/8/layout/vList5"/>
    <dgm:cxn modelId="{18181EDE-6A3B-4895-8886-762A8A5EC1D1}" srcId="{3155D0BC-B107-4B29-A945-7E3B72873BFC}" destId="{31B12A5B-5668-4E2E-BC44-0A2FD8141D8A}" srcOrd="2" destOrd="0" parTransId="{0BD7CFCD-AFC6-4689-AAF1-5A886A9850D4}" sibTransId="{4DF8B316-DFA2-4CAE-8905-1C8BC02383B1}"/>
    <dgm:cxn modelId="{7631E1E0-CF73-4CBD-A089-E5500BCE253E}" type="presOf" srcId="{CDF14401-0898-48B4-AD40-14B8DF5EBC5F}" destId="{66AB5C19-9A18-4FD0-9D32-28E8DE290429}" srcOrd="0" destOrd="1" presId="urn:microsoft.com/office/officeart/2005/8/layout/vList5"/>
    <dgm:cxn modelId="{127019EB-79E8-4A78-BF60-F3F068C07CD5}" srcId="{817D69AA-4693-47F9-B7B6-DB94DDC43242}" destId="{BFAE622C-A029-45D8-9631-0B8E6D103E04}" srcOrd="0" destOrd="0" parTransId="{D17A5897-9D65-4210-9A37-869D78CEEC69}" sibTransId="{00754531-42A3-455D-BEDC-32C51B31DB9F}"/>
    <dgm:cxn modelId="{79BC92F7-9652-4D56-882A-CAB7FC8B40FF}" type="presOf" srcId="{817D69AA-4693-47F9-B7B6-DB94DDC43242}" destId="{17B30675-BB87-4CFD-A799-506D6E5238C1}" srcOrd="0" destOrd="0" presId="urn:microsoft.com/office/officeart/2005/8/layout/vList5"/>
    <dgm:cxn modelId="{99BDE8EE-9563-4A66-9937-DEA1003814ED}" type="presParOf" srcId="{8EA87A22-B92A-43F6-BE25-FA6D8B66DA48}" destId="{754FFA75-4727-4E4C-B423-68BF72420ED7}" srcOrd="0" destOrd="0" presId="urn:microsoft.com/office/officeart/2005/8/layout/vList5"/>
    <dgm:cxn modelId="{726869CC-047D-47F2-B3BF-F72E8EB9F56D}" type="presParOf" srcId="{754FFA75-4727-4E4C-B423-68BF72420ED7}" destId="{761D93F3-7084-4612-B6A3-B4377341F95F}" srcOrd="0" destOrd="0" presId="urn:microsoft.com/office/officeart/2005/8/layout/vList5"/>
    <dgm:cxn modelId="{59E95F09-9943-488D-B312-AD32BE00FF61}" type="presParOf" srcId="{754FFA75-4727-4E4C-B423-68BF72420ED7}" destId="{659729F6-38B4-429D-B5BB-B03F190FBB34}" srcOrd="1" destOrd="0" presId="urn:microsoft.com/office/officeart/2005/8/layout/vList5"/>
    <dgm:cxn modelId="{34C6A44C-86FD-4F54-8F1B-738BA67472A1}" type="presParOf" srcId="{8EA87A22-B92A-43F6-BE25-FA6D8B66DA48}" destId="{9EF2379F-2B9B-4D33-AA67-B416F56B8C82}" srcOrd="1" destOrd="0" presId="urn:microsoft.com/office/officeart/2005/8/layout/vList5"/>
    <dgm:cxn modelId="{ACFD0E35-00FD-4AE8-AE78-F06824AA8F3D}" type="presParOf" srcId="{8EA87A22-B92A-43F6-BE25-FA6D8B66DA48}" destId="{FC7C28DF-AAFC-4FA4-91B2-A6F9D6B73578}" srcOrd="2" destOrd="0" presId="urn:microsoft.com/office/officeart/2005/8/layout/vList5"/>
    <dgm:cxn modelId="{CCB5294B-694C-4B20-91C9-2621FE588E63}" type="presParOf" srcId="{FC7C28DF-AAFC-4FA4-91B2-A6F9D6B73578}" destId="{17B30675-BB87-4CFD-A799-506D6E5238C1}" srcOrd="0" destOrd="0" presId="urn:microsoft.com/office/officeart/2005/8/layout/vList5"/>
    <dgm:cxn modelId="{82D8D37E-081A-44C1-AB47-B3E5DC01C9D9}" type="presParOf" srcId="{FC7C28DF-AAFC-4FA4-91B2-A6F9D6B73578}" destId="{BDA449A5-B775-4216-BADA-083794B0DC3F}" srcOrd="1" destOrd="0" presId="urn:microsoft.com/office/officeart/2005/8/layout/vList5"/>
    <dgm:cxn modelId="{65DC6668-A331-428A-9CC7-E37A164AC679}" type="presParOf" srcId="{8EA87A22-B92A-43F6-BE25-FA6D8B66DA48}" destId="{C3759D1B-A469-41FD-B03E-6A081CD807BC}" srcOrd="3" destOrd="0" presId="urn:microsoft.com/office/officeart/2005/8/layout/vList5"/>
    <dgm:cxn modelId="{32402F38-6116-47F2-8619-17D257DC597D}" type="presParOf" srcId="{8EA87A22-B92A-43F6-BE25-FA6D8B66DA48}" destId="{EDAE99CC-7A59-4B83-B540-E7CA8A5171BA}" srcOrd="4" destOrd="0" presId="urn:microsoft.com/office/officeart/2005/8/layout/vList5"/>
    <dgm:cxn modelId="{53AAD37A-7571-483D-B856-E20CA237D58F}" type="presParOf" srcId="{EDAE99CC-7A59-4B83-B540-E7CA8A5171BA}" destId="{20203336-627B-4D3C-91C0-8B19FF4B56AA}" srcOrd="0" destOrd="0" presId="urn:microsoft.com/office/officeart/2005/8/layout/vList5"/>
    <dgm:cxn modelId="{6E503ABD-A4C0-460C-84F4-0A47DF54C47E}" type="presParOf" srcId="{EDAE99CC-7A59-4B83-B540-E7CA8A5171BA}" destId="{66AB5C19-9A18-4FD0-9D32-28E8DE29042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29F6-38B4-429D-B5BB-B03F190FBB34}">
      <dsp:nvSpPr>
        <dsp:cNvPr id="0" name=""/>
        <dsp:cNvSpPr/>
      </dsp:nvSpPr>
      <dsp:spPr>
        <a:xfrm rot="5400000">
          <a:off x="7109021" y="-2870956"/>
          <a:ext cx="1211608" cy="726101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baseline="0"/>
            <a:t>Problem:</a:t>
          </a:r>
          <a:r>
            <a:rPr lang="en-US" sz="1800" b="0" i="0" kern="1200" baseline="0"/>
            <a:t> File-level context causes "Context Pollution" for Gemini Flash.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baseline="0"/>
            <a:t>Plan:</a:t>
          </a:r>
          <a:r>
            <a:rPr lang="en-US" sz="1800" b="0" i="0" kern="1200" baseline="0"/>
            <a:t> Implement AST parsing to retrieve specific functions/classes (similar to Agentless ).</a:t>
          </a:r>
          <a:endParaRPr lang="en-US" sz="1800" kern="1200"/>
        </a:p>
      </dsp:txBody>
      <dsp:txXfrm rot="-5400000">
        <a:off x="4084319" y="212892"/>
        <a:ext cx="7201866" cy="1093316"/>
      </dsp:txXfrm>
    </dsp:sp>
    <dsp:sp modelId="{761D93F3-7084-4612-B6A3-B4377341F95F}">
      <dsp:nvSpPr>
        <dsp:cNvPr id="0" name=""/>
        <dsp:cNvSpPr/>
      </dsp:nvSpPr>
      <dsp:spPr>
        <a:xfrm>
          <a:off x="0" y="2294"/>
          <a:ext cx="4084319" cy="15145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1. Fine-Grained Localization (AST-Based)</a:t>
          </a:r>
          <a:endParaRPr lang="en-US" sz="3100" kern="1200"/>
        </a:p>
      </dsp:txBody>
      <dsp:txXfrm>
        <a:off x="73932" y="76226"/>
        <a:ext cx="3936455" cy="1366646"/>
      </dsp:txXfrm>
    </dsp:sp>
    <dsp:sp modelId="{BDA449A5-B775-4216-BADA-083794B0DC3F}">
      <dsp:nvSpPr>
        <dsp:cNvPr id="0" name=""/>
        <dsp:cNvSpPr/>
      </dsp:nvSpPr>
      <dsp:spPr>
        <a:xfrm rot="5400000">
          <a:off x="7109021" y="-1280720"/>
          <a:ext cx="1211608" cy="726101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baseline="0"/>
            <a:t>Problem:</a:t>
          </a:r>
          <a:r>
            <a:rPr lang="en-US" sz="1800" b="0" i="0" kern="1200" baseline="0"/>
            <a:t> Single-pass generation leads to a low Applied Rate (~29%).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baseline="0"/>
            <a:t>Plan:</a:t>
          </a:r>
          <a:r>
            <a:rPr lang="en-US" sz="1800" b="0" i="0" kern="1200" baseline="0"/>
            <a:t> Feed git apply errors back to the agent to auto-correct syntax.</a:t>
          </a:r>
          <a:endParaRPr lang="en-US" sz="1800" kern="1200"/>
        </a:p>
      </dsp:txBody>
      <dsp:txXfrm rot="-5400000">
        <a:off x="4084319" y="1803128"/>
        <a:ext cx="7201866" cy="1093316"/>
      </dsp:txXfrm>
    </dsp:sp>
    <dsp:sp modelId="{17B30675-BB87-4CFD-A799-506D6E5238C1}">
      <dsp:nvSpPr>
        <dsp:cNvPr id="0" name=""/>
        <dsp:cNvSpPr/>
      </dsp:nvSpPr>
      <dsp:spPr>
        <a:xfrm>
          <a:off x="0" y="1592530"/>
          <a:ext cx="4084319" cy="15145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2. Iterative Self-Healing</a:t>
          </a:r>
          <a:endParaRPr lang="en-US" sz="3100" kern="1200"/>
        </a:p>
      </dsp:txBody>
      <dsp:txXfrm>
        <a:off x="73932" y="1666462"/>
        <a:ext cx="3936455" cy="1366646"/>
      </dsp:txXfrm>
    </dsp:sp>
    <dsp:sp modelId="{66AB5C19-9A18-4FD0-9D32-28E8DE290429}">
      <dsp:nvSpPr>
        <dsp:cNvPr id="0" name=""/>
        <dsp:cNvSpPr/>
      </dsp:nvSpPr>
      <dsp:spPr>
        <a:xfrm rot="5400000">
          <a:off x="7109021" y="309515"/>
          <a:ext cx="1211608" cy="726101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baseline="0" dirty="0"/>
            <a:t>Problem:</a:t>
          </a:r>
          <a:r>
            <a:rPr lang="en-US" sz="1800" b="0" i="0" kern="1200" baseline="0" dirty="0"/>
            <a:t> Apply a feature for user to upload their own repo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baseline="0" dirty="0"/>
            <a:t>Plan:</a:t>
          </a:r>
          <a:r>
            <a:rPr lang="en-US" sz="1800" b="0" i="0" kern="1200" baseline="0" dirty="0"/>
            <a:t> Integrate the pipeline with the new repo (not in our backend yet)</a:t>
          </a:r>
          <a:endParaRPr lang="en-US" sz="1800" kern="1200" dirty="0"/>
        </a:p>
      </dsp:txBody>
      <dsp:txXfrm rot="-5400000">
        <a:off x="4084319" y="3393363"/>
        <a:ext cx="7201866" cy="1093316"/>
      </dsp:txXfrm>
    </dsp:sp>
    <dsp:sp modelId="{20203336-627B-4D3C-91C0-8B19FF4B56AA}">
      <dsp:nvSpPr>
        <dsp:cNvPr id="0" name=""/>
        <dsp:cNvSpPr/>
      </dsp:nvSpPr>
      <dsp:spPr>
        <a:xfrm>
          <a:off x="0" y="3182766"/>
          <a:ext cx="4084319" cy="15145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 dirty="0"/>
            <a:t>3. UI Function for user’s own repo</a:t>
          </a:r>
          <a:endParaRPr lang="en-US" sz="3100" kern="1200" dirty="0"/>
        </a:p>
      </dsp:txBody>
      <dsp:txXfrm>
        <a:off x="73932" y="3256698"/>
        <a:ext cx="3936455" cy="1366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30839B-8606-6967-F1AC-8192E6632F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69838-F9EE-E34B-E379-D5CB3BD35F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0CDD0-EB01-49A9-9265-0CC46C3CFE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D8320-F824-3F3C-DCEB-933FC51809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0B866-416C-35EC-661A-61A9717FFE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AADCF-76A8-41BA-9613-6EC7CBF4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479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496AB-B623-2248-8AAD-99EBD3119104}" type="datetimeFigureOut">
              <a:rPr lang="en-BG" smtClean="0"/>
              <a:t>02/02/2026</a:t>
            </a:fld>
            <a:endParaRPr lang="en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1A916-08D6-9B4B-9FB3-37A7639A3AC5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2131371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Good morning</a:t>
            </a:r>
            <a:r>
              <a:rPr lang="en-US" b="0"/>
              <a:t>, everyone</a:t>
            </a:r>
            <a:br>
              <a:rPr lang="en-US" b="0" dirty="0"/>
            </a:br>
            <a:r>
              <a:rPr lang="en-US" b="0" dirty="0"/>
              <a:t>Today we’ll present our project NoCode-Agent, an AI-powered system for </a:t>
            </a:r>
            <a:r>
              <a:rPr lang="en-US" b="0"/>
              <a:t>automatic code generation from documentation changes.</a:t>
            </a:r>
            <a:endParaRPr lang="en-US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1A916-08D6-9B4B-9FB3-37A7639A3AC5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70027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began with research and environment setup, then built the core AI agent and backend infrastructure.</a:t>
            </a:r>
          </a:p>
          <a:p>
            <a:r>
              <a:rPr lang="en-US" dirty="0"/>
              <a:t>Frontend development and integration testing followed in parallel phases.</a:t>
            </a:r>
          </a:p>
          <a:p>
            <a:r>
              <a:rPr lang="en-US" dirty="0"/>
              <a:t>Right now, we’re moving toward real system integration.</a:t>
            </a: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1A916-08D6-9B4B-9FB3-37A7639A3AC5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2475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 We’re happy to take any questions.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1A916-08D6-9B4B-9FB3-37A7639A3AC5}" type="slidenum">
              <a:rPr lang="en-BG" smtClean="0"/>
              <a:t>11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4577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2" y="1978720"/>
            <a:ext cx="567054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D09A878B-7240-C428-21DC-6322A496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133" y="3075894"/>
            <a:ext cx="5189985" cy="339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5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1426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20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700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762188"/>
            <a:ext cx="11345332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20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880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5" y="1762188"/>
            <a:ext cx="5596655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20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65B79C66-163E-72AB-9EBB-C197BF0FA72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9893" y="1762189"/>
            <a:ext cx="5607224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20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68241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1"/>
            <a:ext cx="5657088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2000"/>
            </a:lvl1pPr>
          </a:lstStyle>
          <a:p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8551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12192000" cy="4381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2711E4DE-375F-E895-A3EF-D7D2BD7DF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97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12192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902AC9D4-7879-6129-04E1-51EC55829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10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40"/>
            <a:ext cx="12192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1"/>
            <a:ext cx="5657088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 baseline="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2000"/>
            </a:lvl1pPr>
          </a:lstStyle>
          <a:p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9D7F1BFD-F5D6-2326-B43B-180413A31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91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8FF2C154-4B7D-A147-5545-1D0DC3FC66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33245" y="6473314"/>
            <a:ext cx="2736000" cy="365125"/>
          </a:xfrm>
        </p:spPr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CAB8A3B0-4263-4CB4-E818-AE8A075509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8619040" cy="365125"/>
          </a:xfrm>
        </p:spPr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4D13D61-F039-44BC-692C-C29573793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6727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5352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305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35386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7632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4469814"/>
            <a:ext cx="11345332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44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More Fancy Chapter </a:t>
            </a:r>
            <a:r>
              <a:rPr lang="de-DE" noProof="0" dirty="0" err="1"/>
              <a:t>Divider</a:t>
            </a:r>
            <a:endParaRPr lang="de-DE" noProof="0" dirty="0"/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730A47B5-984F-C219-6681-BF3FBFD2F2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33245" y="6473314"/>
            <a:ext cx="2736000" cy="365125"/>
          </a:xfrm>
        </p:spPr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27E61C55-A0C9-8C4D-663D-09DB571DB3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8619040" cy="365125"/>
          </a:xfrm>
        </p:spPr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483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30275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03389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01626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Rechteck 13">
            <a:extLst>
              <a:ext uri="{FF2B5EF4-FFF2-40B4-BE49-F238E27FC236}">
                <a16:creationId xmlns:a16="http://schemas.microsoft.com/office/drawing/2014/main" id="{92C9B9EF-96F6-72CE-DE06-8E31F5059F45}"/>
              </a:ext>
            </a:extLst>
          </p:cNvPr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678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762188"/>
            <a:ext cx="11345332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95656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47959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32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1101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762188"/>
            <a:ext cx="11345332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9937203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499360"/>
            <a:ext cx="11345332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sz="1600" noProof="0"/>
              <a:t>Dritte Ebene</a:t>
            </a:r>
            <a:endParaRPr lang="de-DE" noProof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7F1462AB-9714-8494-532E-1D16D4FAE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5110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1"/>
            <a:ext cx="5657088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386270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12192000" cy="4381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2711E4DE-375F-E895-A3EF-D7D2BD7DF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807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 bwMode="auto">
          <a:xfrm>
            <a:off x="0" y="2477140"/>
            <a:ext cx="12192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1"/>
            <a:ext cx="5657088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9D7F1BFD-F5D6-2326-B43B-180413A31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78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1157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736965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0827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0664165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Rechteck 13">
            <a:extLst>
              <a:ext uri="{FF2B5EF4-FFF2-40B4-BE49-F238E27FC236}">
                <a16:creationId xmlns:a16="http://schemas.microsoft.com/office/drawing/2014/main" id="{B7FC9349-E3B6-AA31-1EA0-330BB586E991}"/>
              </a:ext>
            </a:extLst>
          </p:cNvPr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5199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762188"/>
            <a:ext cx="11345332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591011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655-D011-1DAE-9331-694FEC63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01E0A-3B00-0BF0-A4A5-15697DD8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1050-1E79-F8FB-4584-C43C519D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457B-8E0D-1758-3E54-7F84E4AF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DFF6-58E4-D1BB-CD7A-45CC8B14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CF3-7D96-F149-9EBB-0D2F76651527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26637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3501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438469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762188"/>
            <a:ext cx="11345332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5411873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499360"/>
            <a:ext cx="11345332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sz="1600" noProof="0"/>
              <a:t>Dritte Ebene</a:t>
            </a:r>
            <a:endParaRPr lang="de-DE" noProof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7F1462AB-9714-8494-532E-1D16D4FAE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42259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1"/>
            <a:ext cx="5657088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413789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12192000" cy="4381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2711E4DE-375F-E895-A3EF-D7D2BD7DF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73281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 bwMode="auto">
          <a:xfrm>
            <a:off x="0" y="2477140"/>
            <a:ext cx="12192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762189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1"/>
            <a:ext cx="5657088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9D7F1BFD-F5D6-2326-B43B-180413A31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2646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8113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61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375788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emf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.wmf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3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3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1.wmf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.emf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heme" Target="../theme/theme1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1.wm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4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3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427201" y="314326"/>
            <a:ext cx="10266200" cy="347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Information Systems Chair</a:t>
            </a:r>
            <a:endParaRPr lang="en-US" sz="800"/>
          </a:p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TUM School of Computation, Information and Technology</a:t>
            </a:r>
            <a:endParaRPr lang="en-US" sz="800"/>
          </a:p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38166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9" r:id="rId9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10284440" y="6563283"/>
            <a:ext cx="1487168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-56709" y="0"/>
            <a:ext cx="12246708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503" y="324650"/>
            <a:ext cx="799629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74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0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black">
          <a:xfrm>
            <a:off x="10963505" y="324650"/>
            <a:ext cx="799631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4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1" r:id="rId3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black">
          <a:xfrm>
            <a:off x="10963503" y="324650"/>
            <a:ext cx="799629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67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2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10439384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10284440" y="6563283"/>
            <a:ext cx="1487168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56709" y="0"/>
            <a:ext cx="12246708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503" y="324650"/>
            <a:ext cx="799629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9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427201" y="314326"/>
            <a:ext cx="10266200" cy="347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Information Systems Chair</a:t>
            </a:r>
            <a:endParaRPr lang="en-US" sz="800"/>
          </a:p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TUM School of Computation, Information and Technology</a:t>
            </a:r>
            <a:endParaRPr lang="en-US" sz="800"/>
          </a:p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3385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719" r:id="rId8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0963505" y="324650"/>
            <a:ext cx="799631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50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0963503" y="324650"/>
            <a:ext cx="799629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40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10439384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645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10284440" y="6563283"/>
            <a:ext cx="1487168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56709" y="0"/>
            <a:ext cx="12246708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503" y="324650"/>
            <a:ext cx="799629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54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427201" y="314326"/>
            <a:ext cx="10266200" cy="347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Information Systems Chair</a:t>
            </a:r>
            <a:endParaRPr lang="en-US" sz="800"/>
          </a:p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TUM School of Computation, Information and Technology</a:t>
            </a:r>
            <a:endParaRPr lang="en-US" sz="800"/>
          </a:p>
          <a:p>
            <a:pPr>
              <a:lnSpc>
                <a:spcPts val="900"/>
              </a:lnSpc>
              <a:defRPr/>
            </a:pPr>
            <a:r>
              <a:rPr lang="en-US" sz="80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4909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0963505" y="324650"/>
            <a:ext cx="799631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33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0963503" y="324650"/>
            <a:ext cx="799629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RCC VoiceAI | Foundations and Applications of Generative AI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182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02DDC7-A394-6B32-0A32-FEDC8F8381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785" y="1445216"/>
            <a:ext cx="11345332" cy="410369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Advanced Topics of Software Engineering </a:t>
            </a:r>
            <a:endParaRPr lang="en-BG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7903725-EB79-16A4-33FE-07B202D32F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033245" y="6473314"/>
            <a:ext cx="2736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1</a:t>
            </a:fld>
            <a:endParaRPr lang="de-DE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1238E269-5875-4C79-8065-B5E11EE0A6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2755" y="2050000"/>
            <a:ext cx="6834487" cy="43739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u="sng" dirty="0"/>
              <a:t>Group 4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Dai Hieu Bui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Haytham Muhamad Sajan</a:t>
            </a:r>
          </a:p>
          <a:p>
            <a:pPr>
              <a:spcAft>
                <a:spcPts val="600"/>
              </a:spcAft>
            </a:pPr>
            <a:endParaRPr lang="en-GB" sz="2400" dirty="0"/>
          </a:p>
          <a:p>
            <a:pPr>
              <a:spcAft>
                <a:spcPts val="600"/>
              </a:spcAft>
            </a:pPr>
            <a:r>
              <a:rPr lang="en-GB" sz="2400" dirty="0"/>
              <a:t>Technical University of Munich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Heilbronn, 02.02.2026</a:t>
            </a:r>
          </a:p>
          <a:p>
            <a:pPr>
              <a:spcAft>
                <a:spcPts val="600"/>
              </a:spcAft>
            </a:pPr>
            <a:endParaRPr lang="en-US" sz="2400" dirty="0"/>
          </a:p>
        </p:txBody>
      </p:sp>
      <p:pic>
        <p:nvPicPr>
          <p:cNvPr id="7" name="Picture 6" descr="A drawing of a clock tower  AI-generated content may be incorrect.">
            <a:extLst>
              <a:ext uri="{FF2B5EF4-FFF2-40B4-BE49-F238E27FC236}">
                <a16:creationId xmlns:a16="http://schemas.microsoft.com/office/drawing/2014/main" id="{80AEF3C0-9EB4-F7FE-8C9F-1E22B635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673" y="2050000"/>
            <a:ext cx="4937143" cy="39744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A2E4C2-7316-F380-D946-C17D9DA4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1025638"/>
            <a:ext cx="11345332" cy="680000"/>
          </a:xfrm>
        </p:spPr>
        <p:txBody>
          <a:bodyPr wrap="square" anchor="t">
            <a:noAutofit/>
          </a:bodyPr>
          <a:lstStyle/>
          <a:p>
            <a:r>
              <a:rPr lang="en-US" sz="3200" dirty="0" err="1"/>
              <a:t>NoCode</a:t>
            </a:r>
            <a:r>
              <a:rPr lang="en-US" sz="3200" dirty="0"/>
              <a:t>-bench</a:t>
            </a:r>
            <a:endParaRPr lang="en-BG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A6F81-A585-3F2E-8C8E-71D53D781E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 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F8DA9-C858-8E7A-3C90-F7429E79B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756" y="271218"/>
            <a:ext cx="922100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425454" y="994335"/>
            <a:ext cx="11345332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Project Vision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  <p:sp>
        <p:nvSpPr>
          <p:cNvPr id="5" name="SlideNum"/>
          <p:cNvSpPr>
            <a:spLocks noGrp="1"/>
          </p:cNvSpPr>
          <p:nvPr>
            <p:ph type="sldNum" sz="quarter" idx="11"/>
          </p:nvPr>
        </p:nvSpPr>
        <p:spPr>
          <a:xfrm>
            <a:off x="9033245" y="6473314"/>
            <a:ext cx="2736000" cy="365125"/>
          </a:xfrm>
        </p:spPr>
        <p:txBody>
          <a:bodyPr anchor="ctr">
            <a:normAutofit/>
          </a:bodyPr>
          <a:lstStyle/>
          <a:p>
            <a:fld id="{CE58CB1E-F828-4F11-99E0-327109AF9DA4}" type="slidenum">
              <a:rPr lang="en-US" smtClean="0"/>
              <a:t>2</a:t>
            </a:fld>
            <a:endParaRPr lang="en-US"/>
          </a:p>
        </p:txBody>
      </p:sp>
      <p:sp>
        <p:nvSpPr>
          <p:cNvPr id="60" name="CardBG"/>
          <p:cNvSpPr/>
          <p:nvPr/>
        </p:nvSpPr>
        <p:spPr>
          <a:xfrm>
            <a:off x="740664" y="1900000"/>
            <a:ext cx="4745736" cy="4200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CardTitle"/>
          <p:cNvSpPr txBox="1"/>
          <p:nvPr/>
        </p:nvSpPr>
        <p:spPr>
          <a:xfrm>
            <a:off x="900664" y="2000000"/>
            <a:ext cx="4425736" cy="35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00"/>
              </a:spcAft>
            </a:pPr>
            <a:r>
              <a:rPr lang="en-US" sz="1800" b="1" dirty="0">
                <a:solidFill>
                  <a:srgbClr val="1E3A5F"/>
                </a:solidFill>
                <a:latin typeface="Calibri"/>
                <a:cs typeface="Calibri"/>
              </a:rPr>
              <a:t>Problem &amp; Motivation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900664" y="2350000"/>
            <a:ext cx="4425736" cy="370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Calibri"/>
                <a:cs typeface="Calibri"/>
              </a:rPr>
              <a:t>Problem Statement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Documentation updates often precede code changes in software projects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Manual translation from docs to code is time-consuming and error-prone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No automated system bridges the gap between doc changes and implementation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Calibri"/>
                <a:cs typeface="Calibri"/>
              </a:rPr>
              <a:t>Motivation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Bridge the gap between documentation and code implementation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Reduce developer workload on routine implementation tasks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Improve consistency between documentation and codebase</a:t>
            </a:r>
          </a:p>
        </p:txBody>
      </p:sp>
      <p:sp>
        <p:nvSpPr>
          <p:cNvPr id="4" name="CardBG"/>
          <p:cNvSpPr/>
          <p:nvPr/>
        </p:nvSpPr>
        <p:spPr>
          <a:xfrm>
            <a:off x="6172538" y="1900000"/>
            <a:ext cx="4681729" cy="4200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Title"/>
          <p:cNvSpPr txBox="1"/>
          <p:nvPr/>
        </p:nvSpPr>
        <p:spPr>
          <a:xfrm>
            <a:off x="6332538" y="2000000"/>
            <a:ext cx="4361729" cy="35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00"/>
              </a:spcAft>
            </a:pPr>
            <a:r>
              <a:rPr lang="en-US" sz="1800" b="1" dirty="0">
                <a:solidFill>
                  <a:srgbClr val="1E3A5F"/>
                </a:solidFill>
                <a:latin typeface="Calibri"/>
                <a:cs typeface="Calibri"/>
              </a:rPr>
              <a:t>Goals &amp; Innovation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332538" y="2350000"/>
            <a:ext cx="4361729" cy="3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Calibri"/>
                <a:cs typeface="Calibri"/>
              </a:rPr>
              <a:t>Goals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Automatically generate code patches from documentation changes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Ensure generated code passes all project tests (P2P &amp; F2P)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Evaluate performance on NoCode-bench Verified (114 instances)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Calibri"/>
                <a:cs typeface="Calibri"/>
              </a:rPr>
              <a:t>Key Innovation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Multi-phase AI agent with intelligent file location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Context-aware code generation using repo structure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Automated evaluation pipeline with Docker isolation</a:t>
            </a:r>
          </a:p>
          <a:p>
            <a:pPr marL="177800" indent="-1778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/>
                <a:cs typeface="Calibri"/>
              </a:rPr>
              <a:t>Robust retry mechanism with fuzzy matching 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96EC-BB51-8807-DE37-2E085CC6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467E2-9C9C-B18B-D779-30B8BBFF9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33245" y="6473314"/>
            <a:ext cx="2736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EC78CF3-7D96-F149-9EBB-0D2F76651527}" type="slidenum">
              <a:rPr lang="en-BG" smtClean="0"/>
              <a:pPr>
                <a:spcAft>
                  <a:spcPts val="600"/>
                </a:spcAft>
              </a:pPr>
              <a:t>3</a:t>
            </a:fld>
            <a:endParaRPr lang="en-B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BBCA45-01A1-3FED-7007-F5C1BEA252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  <a:endParaRPr lang="de-DE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2FF709F1-AC6C-4818-692D-5901C8F2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4" y="994335"/>
            <a:ext cx="11345332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Project Timeline</a:t>
            </a:r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15620C62-602B-D878-746B-EE9EAA5BDA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1760564"/>
              </p:ext>
            </p:extLst>
          </p:nvPr>
        </p:nvGraphicFramePr>
        <p:xfrm>
          <a:off x="495300" y="1754097"/>
          <a:ext cx="10963275" cy="4357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8567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>
            <a:spLocks noGrp="1"/>
          </p:cNvSpPr>
          <p:nvPr>
            <p:ph type="title"/>
          </p:nvPr>
        </p:nvSpPr>
        <p:spPr>
          <a:xfrm>
            <a:off x="425454" y="994335"/>
            <a:ext cx="11345332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Current Progress</a:t>
            </a:r>
          </a:p>
        </p:txBody>
      </p:sp>
      <p:sp>
        <p:nvSpPr>
          <p:cNvPr id="201" name="LeftHeader"/>
          <p:cNvSpPr>
            <a:spLocks noGrp="1"/>
          </p:cNvSpPr>
          <p:nvPr/>
        </p:nvSpPr>
        <p:spPr>
          <a:xfrm>
            <a:off x="420000" y="1520000"/>
            <a:ext cx="5500000" cy="32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 lIns="14000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Implementation Status</a:t>
            </a:r>
          </a:p>
        </p:txBody>
      </p:sp>
      <p:sp>
        <p:nvSpPr>
          <p:cNvPr id="202" name="StatusCard 0"/>
          <p:cNvSpPr>
            <a:spLocks noGrp="1"/>
          </p:cNvSpPr>
          <p:nvPr/>
        </p:nvSpPr>
        <p:spPr>
          <a:xfrm>
            <a:off x="420000" y="1860000"/>
            <a:ext cx="5500000" cy="76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CheckCircle 0"/>
          <p:cNvSpPr>
            <a:spLocks noGrp="1"/>
          </p:cNvSpPr>
          <p:nvPr/>
        </p:nvSpPr>
        <p:spPr>
          <a:xfrm>
            <a:off x="560000" y="2050000"/>
            <a:ext cx="380000" cy="3800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4" name="StatusText 0"/>
          <p:cNvSpPr>
            <a:spLocks noGrp="1"/>
          </p:cNvSpPr>
          <p:nvPr/>
        </p:nvSpPr>
        <p:spPr>
          <a:xfrm>
            <a:off x="1000000" y="1940000"/>
            <a:ext cx="486000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60000" anchor="t">
            <a:normAutofit/>
          </a:bodyPr>
          <a:lstStyle/>
          <a:p>
            <a:r>
              <a:rPr lang="en-US" sz="1400" b="1" dirty="0">
                <a:solidFill>
                  <a:srgbClr val="1E3A5F"/>
                </a:solidFill>
              </a:rPr>
              <a:t>Frontend </a:t>
            </a:r>
            <a:r>
              <a:rPr lang="en-US" sz="1200" dirty="0">
                <a:solidFill>
                  <a:srgbClr val="22C55E"/>
                </a:solidFill>
              </a:rPr>
              <a:t>(100%)</a:t>
            </a:r>
          </a:p>
          <a:p>
            <a:r>
              <a:rPr lang="en-US" sz="1050" dirty="0">
                <a:solidFill>
                  <a:srgbClr val="6B7280"/>
                </a:solidFill>
              </a:rPr>
              <a:t>React UI · Real-time status · Patch visualization · Batch control</a:t>
            </a:r>
          </a:p>
        </p:txBody>
      </p:sp>
      <p:sp>
        <p:nvSpPr>
          <p:cNvPr id="205" name="StatusCard 1"/>
          <p:cNvSpPr>
            <a:spLocks noGrp="1"/>
          </p:cNvSpPr>
          <p:nvPr/>
        </p:nvSpPr>
        <p:spPr>
          <a:xfrm>
            <a:off x="420000" y="2640000"/>
            <a:ext cx="5500000" cy="76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CheckCircle 1"/>
          <p:cNvSpPr>
            <a:spLocks noGrp="1"/>
          </p:cNvSpPr>
          <p:nvPr/>
        </p:nvSpPr>
        <p:spPr>
          <a:xfrm>
            <a:off x="560000" y="2830000"/>
            <a:ext cx="380000" cy="3800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7" name="StatusText 1"/>
          <p:cNvSpPr>
            <a:spLocks noGrp="1"/>
          </p:cNvSpPr>
          <p:nvPr/>
        </p:nvSpPr>
        <p:spPr>
          <a:xfrm>
            <a:off x="1000000" y="2720000"/>
            <a:ext cx="486000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60000" anchor="t">
            <a:normAutofit/>
          </a:bodyPr>
          <a:lstStyle/>
          <a:p>
            <a:r>
              <a:rPr lang="en-US" sz="1400" b="1" dirty="0">
                <a:solidFill>
                  <a:srgbClr val="1E3A5F"/>
                </a:solidFill>
              </a:rPr>
              <a:t>Backend </a:t>
            </a:r>
            <a:r>
              <a:rPr lang="en-US" sz="1200" dirty="0">
                <a:solidFill>
                  <a:srgbClr val="22C55E"/>
                </a:solidFill>
              </a:rPr>
              <a:t>(100%)</a:t>
            </a:r>
          </a:p>
          <a:p>
            <a:r>
              <a:rPr lang="en-US" sz="1050" dirty="0">
                <a:solidFill>
                  <a:srgbClr val="6B7280"/>
                </a:solidFill>
              </a:rPr>
              <a:t>FastAPI server · All endpoints · Task pipeline · Thread pool</a:t>
            </a:r>
          </a:p>
        </p:txBody>
      </p:sp>
      <p:sp>
        <p:nvSpPr>
          <p:cNvPr id="208" name="StatusCard 2"/>
          <p:cNvSpPr>
            <a:spLocks noGrp="1"/>
          </p:cNvSpPr>
          <p:nvPr/>
        </p:nvSpPr>
        <p:spPr>
          <a:xfrm>
            <a:off x="420000" y="3420000"/>
            <a:ext cx="5500000" cy="76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CheckCircle 2"/>
          <p:cNvSpPr>
            <a:spLocks noGrp="1"/>
          </p:cNvSpPr>
          <p:nvPr/>
        </p:nvSpPr>
        <p:spPr>
          <a:xfrm>
            <a:off x="560000" y="3610000"/>
            <a:ext cx="380000" cy="3800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0" name="StatusText 2"/>
          <p:cNvSpPr>
            <a:spLocks noGrp="1"/>
          </p:cNvSpPr>
          <p:nvPr/>
        </p:nvSpPr>
        <p:spPr>
          <a:xfrm>
            <a:off x="1000000" y="3500000"/>
            <a:ext cx="486000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60000" anchor="t">
            <a:normAutofit/>
          </a:bodyPr>
          <a:lstStyle/>
          <a:p>
            <a:r>
              <a:rPr lang="en-US" sz="1400" b="1" dirty="0">
                <a:solidFill>
                  <a:srgbClr val="1E3A5F"/>
                </a:solidFill>
              </a:rPr>
              <a:t>AI Agent </a:t>
            </a:r>
            <a:r>
              <a:rPr lang="en-US" sz="1200" dirty="0">
                <a:solidFill>
                  <a:srgbClr val="22C55E"/>
                </a:solidFill>
              </a:rPr>
              <a:t>(100%)</a:t>
            </a:r>
          </a:p>
          <a:p>
            <a:r>
              <a:rPr lang="en-US" sz="1050" dirty="0">
                <a:solidFill>
                  <a:srgbClr val="6B7280"/>
                </a:solidFill>
              </a:rPr>
              <a:t>File location · Patch generation · Validation · Token tracking</a:t>
            </a:r>
          </a:p>
        </p:txBody>
      </p:sp>
      <p:sp>
        <p:nvSpPr>
          <p:cNvPr id="211" name="StatusCard 3"/>
          <p:cNvSpPr>
            <a:spLocks noGrp="1"/>
          </p:cNvSpPr>
          <p:nvPr/>
        </p:nvSpPr>
        <p:spPr>
          <a:xfrm>
            <a:off x="420000" y="4200000"/>
            <a:ext cx="5500000" cy="76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CheckCircle 3"/>
          <p:cNvSpPr>
            <a:spLocks noGrp="1"/>
          </p:cNvSpPr>
          <p:nvPr/>
        </p:nvSpPr>
        <p:spPr>
          <a:xfrm>
            <a:off x="560000" y="4390000"/>
            <a:ext cx="380000" cy="3800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3" name="StatusText 3"/>
          <p:cNvSpPr>
            <a:spLocks noGrp="1"/>
          </p:cNvSpPr>
          <p:nvPr/>
        </p:nvSpPr>
        <p:spPr>
          <a:xfrm>
            <a:off x="1000000" y="4280000"/>
            <a:ext cx="486000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60000" anchor="t">
            <a:normAutofit/>
          </a:bodyPr>
          <a:lstStyle/>
          <a:p>
            <a:r>
              <a:rPr lang="en-US" sz="1400" b="1" dirty="0">
                <a:solidFill>
                  <a:srgbClr val="1E3A5F"/>
                </a:solidFill>
              </a:rPr>
              <a:t>Evaluation </a:t>
            </a:r>
            <a:r>
              <a:rPr lang="en-US" sz="1200" dirty="0">
                <a:solidFill>
                  <a:srgbClr val="22C55E"/>
                </a:solidFill>
              </a:rPr>
              <a:t>(100%)</a:t>
            </a:r>
          </a:p>
          <a:p>
            <a:r>
              <a:rPr lang="en-US" sz="1050" dirty="0">
                <a:solidFill>
                  <a:srgbClr val="6B7280"/>
                </a:solidFill>
              </a:rPr>
              <a:t>NoCode-bench · Docker eval · Results aggregation · Reports</a:t>
            </a:r>
          </a:p>
        </p:txBody>
      </p:sp>
      <p:sp>
        <p:nvSpPr>
          <p:cNvPr id="214" name="StatusCard 4"/>
          <p:cNvSpPr>
            <a:spLocks noGrp="1"/>
          </p:cNvSpPr>
          <p:nvPr/>
        </p:nvSpPr>
        <p:spPr>
          <a:xfrm>
            <a:off x="420000" y="4980000"/>
            <a:ext cx="5500000" cy="76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" name="CheckCircle 4"/>
          <p:cNvSpPr>
            <a:spLocks noGrp="1"/>
          </p:cNvSpPr>
          <p:nvPr/>
        </p:nvSpPr>
        <p:spPr>
          <a:xfrm>
            <a:off x="560000" y="5170000"/>
            <a:ext cx="380000" cy="38000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6" name="StatusText 4"/>
          <p:cNvSpPr>
            <a:spLocks noGrp="1"/>
          </p:cNvSpPr>
          <p:nvPr/>
        </p:nvSpPr>
        <p:spPr>
          <a:xfrm>
            <a:off x="1000000" y="5060000"/>
            <a:ext cx="486000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60000" anchor="t">
            <a:normAutofit/>
          </a:bodyPr>
          <a:lstStyle/>
          <a:p>
            <a:r>
              <a:rPr lang="en-US" sz="1400" b="1" dirty="0">
                <a:solidFill>
                  <a:srgbClr val="1E3A5F"/>
                </a:solidFill>
              </a:rPr>
              <a:t>Infrastructure </a:t>
            </a:r>
            <a:r>
              <a:rPr lang="en-US" sz="1200" dirty="0">
                <a:solidFill>
                  <a:srgbClr val="22C55E"/>
                </a:solidFill>
              </a:rPr>
              <a:t>(100%)</a:t>
            </a:r>
          </a:p>
          <a:p>
            <a:r>
              <a:rPr lang="en-US" sz="1050" dirty="0">
                <a:solidFill>
                  <a:srgbClr val="6B7280"/>
                </a:solidFill>
              </a:rPr>
              <a:t>Repo isolation · Workspace mgmt · Cleanup · Error recovery</a:t>
            </a:r>
          </a:p>
        </p:txBody>
      </p:sp>
      <p:sp>
        <p:nvSpPr>
          <p:cNvPr id="217" name="RightHeader"/>
          <p:cNvSpPr>
            <a:spLocks noGrp="1"/>
          </p:cNvSpPr>
          <p:nvPr/>
        </p:nvSpPr>
        <p:spPr>
          <a:xfrm>
            <a:off x="6200000" y="1520000"/>
            <a:ext cx="5570000" cy="32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 lIns="14000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218" name="FeatCard 0"/>
          <p:cNvSpPr>
            <a:spLocks noGrp="1"/>
          </p:cNvSpPr>
          <p:nvPr/>
        </p:nvSpPr>
        <p:spPr>
          <a:xfrm>
            <a:off x="6200000" y="1860000"/>
            <a:ext cx="5570000" cy="71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FeatIcon 0"/>
          <p:cNvSpPr>
            <a:spLocks noGrp="1"/>
          </p:cNvSpPr>
          <p:nvPr/>
        </p:nvSpPr>
        <p:spPr>
          <a:xfrm>
            <a:off x="6340000" y="2045000"/>
            <a:ext cx="340000" cy="340000"/>
          </a:xfrm>
          <a:prstGeom prst="ellipse">
            <a:avLst/>
          </a:prstGeom>
          <a:solidFill>
            <a:srgbClr val="1E3A5F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20" name="FeatText 0"/>
          <p:cNvSpPr>
            <a:spLocks noGrp="1"/>
          </p:cNvSpPr>
          <p:nvPr/>
        </p:nvSpPr>
        <p:spPr>
          <a:xfrm>
            <a:off x="6740000" y="1940000"/>
            <a:ext cx="4990000" cy="55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80000" anchor="t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</a:rPr>
              <a:t>Intelligent File Location</a:t>
            </a:r>
          </a:p>
          <a:p>
            <a:r>
              <a:rPr lang="en-US" sz="1050" dirty="0">
                <a:solidFill>
                  <a:srgbClr val="6B7280"/>
                </a:solidFill>
              </a:rPr>
              <a:t>AI identifies relevant source files from doc changes</a:t>
            </a:r>
          </a:p>
        </p:txBody>
      </p:sp>
      <p:sp>
        <p:nvSpPr>
          <p:cNvPr id="221" name="FeatCard 1"/>
          <p:cNvSpPr>
            <a:spLocks noGrp="1"/>
          </p:cNvSpPr>
          <p:nvPr/>
        </p:nvSpPr>
        <p:spPr>
          <a:xfrm>
            <a:off x="6200000" y="2588000"/>
            <a:ext cx="5570000" cy="71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2" name="FeatIcon 1"/>
          <p:cNvSpPr>
            <a:spLocks noGrp="1"/>
          </p:cNvSpPr>
          <p:nvPr/>
        </p:nvSpPr>
        <p:spPr>
          <a:xfrm>
            <a:off x="6340000" y="2773000"/>
            <a:ext cx="340000" cy="34000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23" name="FeatText 1"/>
          <p:cNvSpPr>
            <a:spLocks noGrp="1"/>
          </p:cNvSpPr>
          <p:nvPr/>
        </p:nvSpPr>
        <p:spPr>
          <a:xfrm>
            <a:off x="6740000" y="2668000"/>
            <a:ext cx="4990000" cy="55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80000" anchor="t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</a:rPr>
              <a:t>Context-Aware Code Gen</a:t>
            </a:r>
          </a:p>
          <a:p>
            <a:r>
              <a:rPr lang="en-US" sz="1050" dirty="0">
                <a:solidFill>
                  <a:srgbClr val="6B7280"/>
                </a:solidFill>
              </a:rPr>
              <a:t>Leverages full repo structure for informed edits</a:t>
            </a:r>
          </a:p>
        </p:txBody>
      </p:sp>
      <p:sp>
        <p:nvSpPr>
          <p:cNvPr id="224" name="FeatCard 2"/>
          <p:cNvSpPr>
            <a:spLocks noGrp="1"/>
          </p:cNvSpPr>
          <p:nvPr/>
        </p:nvSpPr>
        <p:spPr>
          <a:xfrm>
            <a:off x="6200000" y="3316000"/>
            <a:ext cx="5570000" cy="71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5" name="FeatIcon 2"/>
          <p:cNvSpPr>
            <a:spLocks noGrp="1"/>
          </p:cNvSpPr>
          <p:nvPr/>
        </p:nvSpPr>
        <p:spPr>
          <a:xfrm>
            <a:off x="6340000" y="3501000"/>
            <a:ext cx="340000" cy="34000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26" name="FeatText 2"/>
          <p:cNvSpPr>
            <a:spLocks noGrp="1"/>
          </p:cNvSpPr>
          <p:nvPr/>
        </p:nvSpPr>
        <p:spPr>
          <a:xfrm>
            <a:off x="6740000" y="3396000"/>
            <a:ext cx="4990000" cy="55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80000" anchor="t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</a:rPr>
              <a:t>Robust Patch Generation</a:t>
            </a:r>
          </a:p>
          <a:p>
            <a:r>
              <a:rPr lang="en-US" sz="1050" dirty="0">
                <a:solidFill>
                  <a:srgbClr val="6B7280"/>
                </a:solidFill>
              </a:rPr>
              <a:t>SEARCH/REPLACE + fuzzy matching (75% threshold)</a:t>
            </a:r>
          </a:p>
        </p:txBody>
      </p:sp>
      <p:sp>
        <p:nvSpPr>
          <p:cNvPr id="227" name="FeatCard 3"/>
          <p:cNvSpPr>
            <a:spLocks noGrp="1"/>
          </p:cNvSpPr>
          <p:nvPr/>
        </p:nvSpPr>
        <p:spPr>
          <a:xfrm>
            <a:off x="6200000" y="4044000"/>
            <a:ext cx="5570000" cy="71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8" name="FeatIcon 3"/>
          <p:cNvSpPr>
            <a:spLocks noGrp="1"/>
          </p:cNvSpPr>
          <p:nvPr/>
        </p:nvSpPr>
        <p:spPr>
          <a:xfrm>
            <a:off x="6340000" y="4229000"/>
            <a:ext cx="340000" cy="340000"/>
          </a:xfrm>
          <a:prstGeom prst="ellipse">
            <a:avLst/>
          </a:prstGeom>
          <a:solidFill>
            <a:srgbClr val="6A1B9A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9" name="FeatText 3"/>
          <p:cNvSpPr>
            <a:spLocks noGrp="1"/>
          </p:cNvSpPr>
          <p:nvPr/>
        </p:nvSpPr>
        <p:spPr>
          <a:xfrm>
            <a:off x="6740000" y="4124000"/>
            <a:ext cx="4990000" cy="55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80000" anchor="t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</a:rPr>
              <a:t>Real-Time Monitoring</a:t>
            </a:r>
          </a:p>
          <a:p>
            <a:r>
              <a:rPr lang="en-US" sz="1050" dirty="0">
                <a:solidFill>
                  <a:srgbClr val="6B7280"/>
                </a:solidFill>
              </a:rPr>
              <a:t>Live progress · 2s polling · Visual batch indicator</a:t>
            </a:r>
          </a:p>
        </p:txBody>
      </p:sp>
      <p:sp>
        <p:nvSpPr>
          <p:cNvPr id="230" name="FeatCard 4"/>
          <p:cNvSpPr>
            <a:spLocks noGrp="1"/>
          </p:cNvSpPr>
          <p:nvPr/>
        </p:nvSpPr>
        <p:spPr>
          <a:xfrm>
            <a:off x="6200000" y="4772000"/>
            <a:ext cx="5570000" cy="71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1" name="FeatIcon 4"/>
          <p:cNvSpPr>
            <a:spLocks noGrp="1"/>
          </p:cNvSpPr>
          <p:nvPr/>
        </p:nvSpPr>
        <p:spPr>
          <a:xfrm>
            <a:off x="6340000" y="4957000"/>
            <a:ext cx="340000" cy="340000"/>
          </a:xfrm>
          <a:prstGeom prst="ellipse">
            <a:avLst/>
          </a:prstGeom>
          <a:solidFill>
            <a:srgbClr val="E65100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32" name="FeatText 4"/>
          <p:cNvSpPr>
            <a:spLocks noGrp="1"/>
          </p:cNvSpPr>
          <p:nvPr/>
        </p:nvSpPr>
        <p:spPr>
          <a:xfrm>
            <a:off x="6740000" y="4852000"/>
            <a:ext cx="4990000" cy="55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80000" anchor="t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</a:rPr>
              <a:t>Comprehensive Evaluation</a:t>
            </a:r>
          </a:p>
          <a:p>
            <a:r>
              <a:rPr lang="en-US" sz="1050" dirty="0">
                <a:solidFill>
                  <a:srgbClr val="6B7280"/>
                </a:solidFill>
              </a:rPr>
              <a:t>Docker containers · P2P/F2P · Per-task failure analysis</a:t>
            </a:r>
          </a:p>
        </p:txBody>
      </p:sp>
      <p:sp>
        <p:nvSpPr>
          <p:cNvPr id="233" name="FeatCard 5"/>
          <p:cNvSpPr>
            <a:spLocks noGrp="1"/>
          </p:cNvSpPr>
          <p:nvPr/>
        </p:nvSpPr>
        <p:spPr>
          <a:xfrm>
            <a:off x="6200000" y="5500000"/>
            <a:ext cx="5570000" cy="71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4" name="FeatIcon 5"/>
          <p:cNvSpPr>
            <a:spLocks noGrp="1"/>
          </p:cNvSpPr>
          <p:nvPr/>
        </p:nvSpPr>
        <p:spPr>
          <a:xfrm>
            <a:off x="6340000" y="5685000"/>
            <a:ext cx="340000" cy="340000"/>
          </a:xfrm>
          <a:prstGeom prst="ellipse">
            <a:avLst/>
          </a:prstGeom>
          <a:solidFill>
            <a:srgbClr val="C62828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35" name="FeatText 5"/>
          <p:cNvSpPr>
            <a:spLocks noGrp="1"/>
          </p:cNvSpPr>
          <p:nvPr/>
        </p:nvSpPr>
        <p:spPr>
          <a:xfrm>
            <a:off x="6740000" y="5580000"/>
            <a:ext cx="4990000" cy="550000"/>
          </a:xfrm>
          <a:prstGeom prst="rect">
            <a:avLst/>
          </a:prstGeom>
          <a:noFill/>
          <a:ln w="0">
            <a:noFill/>
          </a:ln>
        </p:spPr>
        <p:txBody>
          <a:bodyPr wrap="square" lIns="60000" tIns="80000" anchor="t">
            <a:normAutofit/>
          </a:bodyPr>
          <a:lstStyle/>
          <a:p>
            <a:r>
              <a:rPr lang="en-US" sz="1300" b="1" dirty="0">
                <a:solidFill>
                  <a:srgbClr val="1E3A5F"/>
                </a:solidFill>
              </a:rPr>
              <a:t>Error Resilience</a:t>
            </a:r>
          </a:p>
          <a:p>
            <a:r>
              <a:rPr lang="en-US" sz="1050" dirty="0">
                <a:solidFill>
                  <a:srgbClr val="6B7280"/>
                </a:solidFill>
              </a:rPr>
              <a:t>Auto-retry (3×) · Graceful recovery · Cost tracking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/>
          </p:nvPr>
        </p:nvSpPr>
        <p:spPr>
          <a:xfrm>
            <a:off x="424334" y="793318"/>
            <a:ext cx="11345332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sp>
        <p:nvSpPr>
          <p:cNvPr id="101" name="LayerBg 0"/>
          <p:cNvSpPr>
            <a:spLocks noGrp="1"/>
          </p:cNvSpPr>
          <p:nvPr/>
        </p:nvSpPr>
        <p:spPr>
          <a:xfrm>
            <a:off x="420000" y="1558001"/>
            <a:ext cx="11350000" cy="10325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Stripe 0"/>
          <p:cNvSpPr>
            <a:spLocks noGrp="1"/>
          </p:cNvSpPr>
          <p:nvPr/>
        </p:nvSpPr>
        <p:spPr>
          <a:xfrm>
            <a:off x="420000" y="1558001"/>
            <a:ext cx="11350000" cy="340000"/>
          </a:xfrm>
          <a:prstGeom prst="roundRect">
            <a:avLst/>
          </a:prstGeom>
          <a:solidFill>
            <a:srgbClr val="1E3A5F"/>
          </a:solidFill>
          <a:ln w="0">
            <a:noFill/>
          </a:ln>
        </p:spPr>
        <p:txBody>
          <a:bodyPr lIns="160000" tIns="0" rIns="160000" bIns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USER INTERFACE</a:t>
            </a:r>
          </a:p>
        </p:txBody>
      </p:sp>
      <p:sp>
        <p:nvSpPr>
          <p:cNvPr id="103" name="StripeCover 0"/>
          <p:cNvSpPr>
            <a:spLocks noGrp="1"/>
          </p:cNvSpPr>
          <p:nvPr/>
        </p:nvSpPr>
        <p:spPr>
          <a:xfrm>
            <a:off x="420000" y="1858001"/>
            <a:ext cx="11350000" cy="8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LayerText 0"/>
          <p:cNvSpPr>
            <a:spLocks noGrp="1"/>
          </p:cNvSpPr>
          <p:nvPr/>
        </p:nvSpPr>
        <p:spPr>
          <a:xfrm>
            <a:off x="500000" y="1968001"/>
            <a:ext cx="11190000" cy="420000"/>
          </a:xfrm>
          <a:prstGeom prst="rect">
            <a:avLst/>
          </a:prstGeom>
          <a:noFill/>
          <a:ln w="0">
            <a:noFill/>
          </a:ln>
        </p:spPr>
        <p:txBody>
          <a:bodyPr wrap="square" lIns="80000" tIns="40000" rIns="80000" bIns="40000" anchor="t">
            <a:noAutofit/>
          </a:bodyPr>
          <a:lstStyle/>
          <a:p>
            <a:pPr marL="200000" indent="-200000">
              <a:buChar char="•"/>
            </a:pPr>
            <a:r>
              <a:rPr lang="en-US" sz="1000" b="1" dirty="0">
                <a:solidFill>
                  <a:srgbClr val="374151"/>
                </a:solidFill>
              </a:rPr>
              <a:t>TaskList: Browse &amp; search 114 benchmark tasks with color-coded status</a:t>
            </a:r>
          </a:p>
          <a:p>
            <a:pPr marL="200000" indent="-200000">
              <a:buChar char="•"/>
            </a:pPr>
            <a:r>
              <a:rPr lang="en-US" sz="1000" b="1" dirty="0">
                <a:solidFill>
                  <a:srgbClr val="374151"/>
                </a:solidFill>
              </a:rPr>
              <a:t>TaskDetail: View problem statement, generated patch and metrics</a:t>
            </a:r>
          </a:p>
          <a:p>
            <a:pPr marL="200000" indent="-200000">
              <a:buChar char="•"/>
            </a:pPr>
            <a:r>
              <a:rPr lang="en-US" sz="1000" b="1" dirty="0">
                <a:solidFill>
                  <a:srgbClr val="374151"/>
                </a:solidFill>
              </a:rPr>
              <a:t>BatchControl: Start/stop batch processing with real-time progress bar</a:t>
            </a:r>
          </a:p>
        </p:txBody>
      </p:sp>
      <p:sp>
        <p:nvSpPr>
          <p:cNvPr id="105" name="Arrow 105"/>
          <p:cNvSpPr>
            <a:spLocks noGrp="1"/>
          </p:cNvSpPr>
          <p:nvPr/>
        </p:nvSpPr>
        <p:spPr>
          <a:xfrm>
            <a:off x="5845000" y="2630501"/>
            <a:ext cx="500000" cy="330000"/>
          </a:xfrm>
          <a:prstGeom prst="downArrow">
            <a:avLst/>
          </a:prstGeom>
          <a:solidFill>
            <a:srgbClr val="9E9E9E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6" name="LayerBg 1"/>
          <p:cNvSpPr>
            <a:spLocks noGrp="1"/>
          </p:cNvSpPr>
          <p:nvPr/>
        </p:nvSpPr>
        <p:spPr>
          <a:xfrm>
            <a:off x="420000" y="2958000"/>
            <a:ext cx="11350000" cy="939499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tripe 1"/>
          <p:cNvSpPr>
            <a:spLocks noGrp="1"/>
          </p:cNvSpPr>
          <p:nvPr/>
        </p:nvSpPr>
        <p:spPr>
          <a:xfrm>
            <a:off x="420000" y="2958001"/>
            <a:ext cx="11350000" cy="340000"/>
          </a:xfrm>
          <a:prstGeom prst="roundRect">
            <a:avLst/>
          </a:prstGeom>
          <a:solidFill>
            <a:srgbClr val="0D7377"/>
          </a:solidFill>
          <a:ln w="0">
            <a:noFill/>
          </a:ln>
        </p:spPr>
        <p:txBody>
          <a:bodyPr lIns="160000" tIns="0" rIns="160000" bIns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BACKEND API SERVER</a:t>
            </a:r>
          </a:p>
        </p:txBody>
      </p:sp>
      <p:sp>
        <p:nvSpPr>
          <p:cNvPr id="108" name="StripeCover 1"/>
          <p:cNvSpPr>
            <a:spLocks noGrp="1"/>
          </p:cNvSpPr>
          <p:nvPr/>
        </p:nvSpPr>
        <p:spPr>
          <a:xfrm>
            <a:off x="420000" y="3258001"/>
            <a:ext cx="11350000" cy="8000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LayerText 1"/>
          <p:cNvSpPr>
            <a:spLocks noGrp="1"/>
          </p:cNvSpPr>
          <p:nvPr/>
        </p:nvSpPr>
        <p:spPr>
          <a:xfrm>
            <a:off x="500000" y="3319613"/>
            <a:ext cx="11190000" cy="430000"/>
          </a:xfrm>
          <a:prstGeom prst="rect">
            <a:avLst/>
          </a:prstGeom>
          <a:noFill/>
          <a:ln w="0">
            <a:noFill/>
          </a:ln>
        </p:spPr>
        <p:txBody>
          <a:bodyPr wrap="square" lIns="80000" tIns="40000" rIns="80000" bIns="40000" anchor="t">
            <a:noAutofit/>
          </a:bodyPr>
          <a:lstStyle/>
          <a:p>
            <a:pPr marL="200000" indent="-200000">
              <a:buChar char="•"/>
            </a:pPr>
            <a:r>
              <a:rPr lang="en-US" sz="1000" b="1" dirty="0">
                <a:solidFill>
                  <a:srgbClr val="374151"/>
                </a:solidFill>
              </a:rPr>
              <a:t>State Management: In-memory task storage and result caching</a:t>
            </a:r>
          </a:p>
          <a:p>
            <a:pPr marL="200000" indent="-200000">
              <a:buChar char="•"/>
            </a:pPr>
            <a:r>
              <a:rPr lang="en-US" sz="1000" b="1" dirty="0">
                <a:solidFill>
                  <a:srgbClr val="374151"/>
                </a:solidFill>
              </a:rPr>
              <a:t>Service Orchestrator: Coordinates task execution and batch workflow</a:t>
            </a:r>
          </a:p>
          <a:p>
            <a:pPr marL="200000" indent="-200000">
              <a:buChar char="•"/>
            </a:pPr>
            <a:r>
              <a:rPr lang="en-US" sz="1000" b="1" dirty="0">
                <a:solidFill>
                  <a:srgbClr val="374151"/>
                </a:solidFill>
              </a:rPr>
              <a:t>REST API: /tasks, /run, /batch/start/status/stop, /results endpoints</a:t>
            </a:r>
          </a:p>
        </p:txBody>
      </p:sp>
      <p:sp>
        <p:nvSpPr>
          <p:cNvPr id="110" name="Arrow 110"/>
          <p:cNvSpPr>
            <a:spLocks noGrp="1"/>
          </p:cNvSpPr>
          <p:nvPr/>
        </p:nvSpPr>
        <p:spPr>
          <a:xfrm>
            <a:off x="5857700" y="3941611"/>
            <a:ext cx="500000" cy="310000"/>
          </a:xfrm>
          <a:prstGeom prst="downArrow">
            <a:avLst/>
          </a:prstGeom>
          <a:solidFill>
            <a:srgbClr val="9E9E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LayerBg 2"/>
          <p:cNvSpPr>
            <a:spLocks noGrp="1"/>
          </p:cNvSpPr>
          <p:nvPr/>
        </p:nvSpPr>
        <p:spPr>
          <a:xfrm>
            <a:off x="414883" y="4341611"/>
            <a:ext cx="11350000" cy="85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tripe 2"/>
          <p:cNvSpPr>
            <a:spLocks noGrp="1"/>
          </p:cNvSpPr>
          <p:nvPr/>
        </p:nvSpPr>
        <p:spPr>
          <a:xfrm>
            <a:off x="422000" y="4256611"/>
            <a:ext cx="11350000" cy="340000"/>
          </a:xfrm>
          <a:prstGeom prst="roundRect">
            <a:avLst/>
          </a:prstGeom>
          <a:solidFill>
            <a:srgbClr val="2E7D32"/>
          </a:solidFill>
          <a:ln w="0">
            <a:noFill/>
          </a:ln>
        </p:spPr>
        <p:txBody>
          <a:bodyPr lIns="160000" tIns="0" rIns="160000" bIns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AI AGENT LAYER  —  </a:t>
            </a:r>
            <a:r>
              <a:rPr lang="en-US" sz="1400" b="1" dirty="0" err="1">
                <a:solidFill>
                  <a:srgbClr val="FFFFFF"/>
                </a:solidFill>
              </a:rPr>
              <a:t>NoCodeAgent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13" name="StripeCover 2"/>
          <p:cNvSpPr>
            <a:spLocks noGrp="1"/>
          </p:cNvSpPr>
          <p:nvPr/>
        </p:nvSpPr>
        <p:spPr>
          <a:xfrm>
            <a:off x="422000" y="4556611"/>
            <a:ext cx="11350000" cy="800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LayerText 2"/>
          <p:cNvSpPr>
            <a:spLocks noGrp="1"/>
          </p:cNvSpPr>
          <p:nvPr/>
        </p:nvSpPr>
        <p:spPr>
          <a:xfrm>
            <a:off x="502000" y="4690666"/>
            <a:ext cx="11190000" cy="460000"/>
          </a:xfrm>
          <a:prstGeom prst="rect">
            <a:avLst/>
          </a:prstGeom>
          <a:noFill/>
          <a:ln w="0">
            <a:noFill/>
          </a:ln>
        </p:spPr>
        <p:txBody>
          <a:bodyPr wrap="square" lIns="80000" tIns="40000" rIns="80000" bIns="40000" anchor="t">
            <a:normAutofit fontScale="85000" lnSpcReduction="20000"/>
          </a:bodyPr>
          <a:lstStyle/>
          <a:p>
            <a:pPr marL="200000" indent="-200000"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Phase 1 - File Location: gemini-pro identifies edit vs. context files</a:t>
            </a:r>
          </a:p>
          <a:p>
            <a:pPr marL="200000" indent="-200000"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Phase 2 - Patch Generation: SEARCH/REPLACE blocks with fuzzy fallback (75%)</a:t>
            </a:r>
          </a:p>
          <a:p>
            <a:pPr marL="200000" indent="-200000"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Phase 3 - Validation: Syntax check + git-apply verification, retries up to 3×</a:t>
            </a:r>
          </a:p>
        </p:txBody>
      </p:sp>
      <p:sp>
        <p:nvSpPr>
          <p:cNvPr id="115" name="Arrow 115"/>
          <p:cNvSpPr>
            <a:spLocks noGrp="1"/>
          </p:cNvSpPr>
          <p:nvPr/>
        </p:nvSpPr>
        <p:spPr>
          <a:xfrm>
            <a:off x="5857700" y="5141611"/>
            <a:ext cx="500000" cy="340000"/>
          </a:xfrm>
          <a:prstGeom prst="downArrow">
            <a:avLst/>
          </a:prstGeom>
          <a:solidFill>
            <a:srgbClr val="9E9E9E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LayerBg 3"/>
          <p:cNvSpPr>
            <a:spLocks noGrp="1"/>
          </p:cNvSpPr>
          <p:nvPr/>
        </p:nvSpPr>
        <p:spPr>
          <a:xfrm>
            <a:off x="420000" y="5508313"/>
            <a:ext cx="11350000" cy="924055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tripe 3"/>
          <p:cNvSpPr>
            <a:spLocks noGrp="1"/>
          </p:cNvSpPr>
          <p:nvPr/>
        </p:nvSpPr>
        <p:spPr>
          <a:xfrm>
            <a:off x="420000" y="5508314"/>
            <a:ext cx="11350000" cy="340000"/>
          </a:xfrm>
          <a:prstGeom prst="roundRect">
            <a:avLst/>
          </a:prstGeom>
          <a:solidFill>
            <a:srgbClr val="6A1B9A"/>
          </a:solidFill>
          <a:ln w="0">
            <a:noFill/>
          </a:ln>
        </p:spPr>
        <p:txBody>
          <a:bodyPr lIns="160000" tIns="0" rIns="160000" bIns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EVALUATION LAYER  </a:t>
            </a:r>
          </a:p>
        </p:txBody>
      </p:sp>
      <p:sp>
        <p:nvSpPr>
          <p:cNvPr id="118" name="StripeCover 3"/>
          <p:cNvSpPr>
            <a:spLocks noGrp="1"/>
          </p:cNvSpPr>
          <p:nvPr/>
        </p:nvSpPr>
        <p:spPr>
          <a:xfrm>
            <a:off x="420000" y="5808314"/>
            <a:ext cx="11350000" cy="8000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LayerText 3"/>
          <p:cNvSpPr>
            <a:spLocks noGrp="1"/>
          </p:cNvSpPr>
          <p:nvPr/>
        </p:nvSpPr>
        <p:spPr>
          <a:xfrm>
            <a:off x="500000" y="5929260"/>
            <a:ext cx="11190000" cy="460000"/>
          </a:xfrm>
          <a:prstGeom prst="rect">
            <a:avLst/>
          </a:prstGeom>
          <a:noFill/>
          <a:ln w="0">
            <a:noFill/>
          </a:ln>
        </p:spPr>
        <p:txBody>
          <a:bodyPr wrap="square" lIns="80000" tIns="40000" rIns="80000" bIns="40000" anchor="t">
            <a:normAutofit fontScale="85000" lnSpcReduction="20000"/>
          </a:bodyPr>
          <a:lstStyle/>
          <a:p>
            <a:pPr marL="200000" indent="-200000"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Test Execution: P2P &amp; F2P tests in isolated Docker containers (300s timeout)</a:t>
            </a:r>
          </a:p>
          <a:p>
            <a:pPr marL="200000" indent="-200000"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Metrics &amp; Results: Resolution rate, token usage, file accuracy tracking</a:t>
            </a:r>
          </a:p>
          <a:p>
            <a:pPr marL="200000" indent="-200000"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Output: </a:t>
            </a:r>
            <a:r>
              <a:rPr lang="en-US" sz="1200" b="1" dirty="0" err="1">
                <a:solidFill>
                  <a:srgbClr val="374151"/>
                </a:solidFill>
              </a:rPr>
              <a:t>all_preds.jsonl</a:t>
            </a:r>
            <a:r>
              <a:rPr lang="en-US" sz="1200" b="1" dirty="0">
                <a:solidFill>
                  <a:srgbClr val="374151"/>
                </a:solidFill>
              </a:rPr>
              <a:t> → </a:t>
            </a:r>
            <a:r>
              <a:rPr lang="en-US" sz="1200" b="1" dirty="0" err="1">
                <a:solidFill>
                  <a:srgbClr val="374151"/>
                </a:solidFill>
              </a:rPr>
              <a:t>evaluation_details.jsonl</a:t>
            </a:r>
            <a:r>
              <a:rPr lang="en-US" sz="1200" b="1" dirty="0">
                <a:solidFill>
                  <a:srgbClr val="374151"/>
                </a:solidFill>
              </a:rPr>
              <a:t> → summary_report.txt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>
            <a:spLocks noGrp="1"/>
          </p:cNvSpPr>
          <p:nvPr>
            <p:ph type="title"/>
          </p:nvPr>
        </p:nvSpPr>
        <p:spPr>
          <a:xfrm>
            <a:off x="414883" y="827790"/>
            <a:ext cx="11345332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301" name="EvalBg 0"/>
          <p:cNvSpPr>
            <a:spLocks noGrp="1"/>
          </p:cNvSpPr>
          <p:nvPr/>
        </p:nvSpPr>
        <p:spPr>
          <a:xfrm>
            <a:off x="420000" y="1520000"/>
            <a:ext cx="3550000" cy="480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EvalStripe 0"/>
          <p:cNvSpPr>
            <a:spLocks noGrp="1"/>
          </p:cNvSpPr>
          <p:nvPr/>
        </p:nvSpPr>
        <p:spPr>
          <a:xfrm>
            <a:off x="420000" y="1520000"/>
            <a:ext cx="3550000" cy="340000"/>
          </a:xfrm>
          <a:prstGeom prst="roundRect">
            <a:avLst/>
          </a:prstGeom>
          <a:solidFill>
            <a:srgbClr val="1E3A5F"/>
          </a:solidFill>
          <a:ln w="0">
            <a:noFill/>
          </a:ln>
        </p:spPr>
        <p:txBody>
          <a:bodyPr lIns="140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03" name="EvalStripeCover 0"/>
          <p:cNvSpPr>
            <a:spLocks noGrp="1"/>
          </p:cNvSpPr>
          <p:nvPr/>
        </p:nvSpPr>
        <p:spPr>
          <a:xfrm>
            <a:off x="420000" y="1820000"/>
            <a:ext cx="3550000" cy="8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EvalRow 0-0"/>
          <p:cNvSpPr>
            <a:spLocks noGrp="1"/>
          </p:cNvSpPr>
          <p:nvPr/>
        </p:nvSpPr>
        <p:spPr>
          <a:xfrm>
            <a:off x="480000" y="1900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EvalRowText 0-0"/>
          <p:cNvSpPr>
            <a:spLocks noGrp="1"/>
          </p:cNvSpPr>
          <p:nvPr/>
        </p:nvSpPr>
        <p:spPr>
          <a:xfrm>
            <a:off x="540000" y="1900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1E3A5F"/>
                </a:solidFill>
              </a:rPr>
              <a:t>Framework: </a:t>
            </a:r>
            <a:r>
              <a:rPr lang="en-US" sz="1000" dirty="0">
                <a:solidFill>
                  <a:srgbClr val="374151"/>
                </a:solidFill>
              </a:rPr>
              <a:t>NoCode-bench · 114 verified instances with ground-truth solutions</a:t>
            </a:r>
          </a:p>
        </p:txBody>
      </p:sp>
      <p:sp>
        <p:nvSpPr>
          <p:cNvPr id="306" name="EvalRow 0-1"/>
          <p:cNvSpPr>
            <a:spLocks noGrp="1"/>
          </p:cNvSpPr>
          <p:nvPr/>
        </p:nvSpPr>
        <p:spPr>
          <a:xfrm>
            <a:off x="480000" y="2632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EvalRowText 0-1"/>
          <p:cNvSpPr>
            <a:spLocks noGrp="1"/>
          </p:cNvSpPr>
          <p:nvPr/>
        </p:nvSpPr>
        <p:spPr>
          <a:xfrm>
            <a:off x="540000" y="2632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1E3A5F"/>
                </a:solidFill>
              </a:rPr>
              <a:t>Step 1: </a:t>
            </a:r>
            <a:r>
              <a:rPr lang="en-US" sz="1000" dirty="0">
                <a:solidFill>
                  <a:srgbClr val="374151"/>
                </a:solidFill>
              </a:rPr>
              <a:t>Generated patch applied to repo at base_commit</a:t>
            </a:r>
          </a:p>
        </p:txBody>
      </p:sp>
      <p:sp>
        <p:nvSpPr>
          <p:cNvPr id="308" name="EvalRow 0-2"/>
          <p:cNvSpPr>
            <a:spLocks noGrp="1"/>
          </p:cNvSpPr>
          <p:nvPr/>
        </p:nvSpPr>
        <p:spPr>
          <a:xfrm>
            <a:off x="480000" y="3364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9" name="EvalRowText 0-2"/>
          <p:cNvSpPr>
            <a:spLocks noGrp="1"/>
          </p:cNvSpPr>
          <p:nvPr/>
        </p:nvSpPr>
        <p:spPr>
          <a:xfrm>
            <a:off x="540000" y="3364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1E3A5F"/>
                </a:solidFill>
              </a:rPr>
              <a:t>Step 2: </a:t>
            </a:r>
            <a:r>
              <a:rPr lang="en-US" sz="1000" dirty="0">
                <a:solidFill>
                  <a:srgbClr val="374151"/>
                </a:solidFill>
              </a:rPr>
              <a:t>Test suite executed in isolated Docker container (300s timeout)</a:t>
            </a:r>
          </a:p>
        </p:txBody>
      </p:sp>
      <p:sp>
        <p:nvSpPr>
          <p:cNvPr id="310" name="EvalRow 0-3"/>
          <p:cNvSpPr>
            <a:spLocks noGrp="1"/>
          </p:cNvSpPr>
          <p:nvPr/>
        </p:nvSpPr>
        <p:spPr>
          <a:xfrm>
            <a:off x="480000" y="4096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1" name="EvalRowText 0-3"/>
          <p:cNvSpPr>
            <a:spLocks noGrp="1"/>
          </p:cNvSpPr>
          <p:nvPr/>
        </p:nvSpPr>
        <p:spPr>
          <a:xfrm>
            <a:off x="540000" y="4096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1E3A5F"/>
                </a:solidFill>
              </a:rPr>
              <a:t>Step 3: </a:t>
            </a:r>
            <a:r>
              <a:rPr lang="en-US" sz="1000" dirty="0">
                <a:solidFill>
                  <a:srgbClr val="374151"/>
                </a:solidFill>
              </a:rPr>
              <a:t>Results compared against expected outcomes</a:t>
            </a:r>
          </a:p>
        </p:txBody>
      </p:sp>
      <p:sp>
        <p:nvSpPr>
          <p:cNvPr id="312" name="EvalRow 0-4"/>
          <p:cNvSpPr>
            <a:spLocks noGrp="1"/>
          </p:cNvSpPr>
          <p:nvPr/>
        </p:nvSpPr>
        <p:spPr>
          <a:xfrm>
            <a:off x="480000" y="4828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3" name="EvalRowText 0-4"/>
          <p:cNvSpPr>
            <a:spLocks noGrp="1"/>
          </p:cNvSpPr>
          <p:nvPr/>
        </p:nvSpPr>
        <p:spPr>
          <a:xfrm>
            <a:off x="540000" y="4828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1E3A5F"/>
                </a:solidFill>
              </a:rPr>
              <a:t>Step 4: </a:t>
            </a:r>
            <a:r>
              <a:rPr lang="en-US" sz="1000" dirty="0">
                <a:solidFill>
                  <a:srgbClr val="374151"/>
                </a:solidFill>
              </a:rPr>
              <a:t>Metrics calculated and stored in detail</a:t>
            </a:r>
          </a:p>
        </p:txBody>
      </p:sp>
      <p:sp>
        <p:nvSpPr>
          <p:cNvPr id="314" name="EvalRow 0-5"/>
          <p:cNvSpPr>
            <a:spLocks noGrp="1"/>
          </p:cNvSpPr>
          <p:nvPr/>
        </p:nvSpPr>
        <p:spPr>
          <a:xfrm>
            <a:off x="480000" y="5560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5" name="EvalRowText 0-5"/>
          <p:cNvSpPr>
            <a:spLocks noGrp="1"/>
          </p:cNvSpPr>
          <p:nvPr/>
        </p:nvSpPr>
        <p:spPr>
          <a:xfrm>
            <a:off x="540000" y="5560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1E3A5F"/>
                </a:solidFill>
              </a:rPr>
              <a:t>Config: </a:t>
            </a:r>
            <a:r>
              <a:rPr lang="en-US" sz="1000" dirty="0">
                <a:solidFill>
                  <a:srgbClr val="374151"/>
                </a:solidFill>
              </a:rPr>
              <a:t>Max 2 concurrent workers · Full Docker isolation</a:t>
            </a:r>
          </a:p>
        </p:txBody>
      </p:sp>
      <p:sp>
        <p:nvSpPr>
          <p:cNvPr id="316" name="EvalBg 1"/>
          <p:cNvSpPr>
            <a:spLocks noGrp="1"/>
          </p:cNvSpPr>
          <p:nvPr/>
        </p:nvSpPr>
        <p:spPr>
          <a:xfrm>
            <a:off x="4140000" y="1520000"/>
            <a:ext cx="3550000" cy="480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7" name="EvalStripe 1"/>
          <p:cNvSpPr>
            <a:spLocks noGrp="1"/>
          </p:cNvSpPr>
          <p:nvPr/>
        </p:nvSpPr>
        <p:spPr>
          <a:xfrm>
            <a:off x="4140000" y="1520000"/>
            <a:ext cx="3550000" cy="340000"/>
          </a:xfrm>
          <a:prstGeom prst="roundRect">
            <a:avLst/>
          </a:prstGeom>
          <a:solidFill>
            <a:srgbClr val="0D7377"/>
          </a:solidFill>
          <a:ln w="0">
            <a:noFill/>
          </a:ln>
        </p:spPr>
        <p:txBody>
          <a:bodyPr lIns="140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REQUIRED METRICS</a:t>
            </a:r>
          </a:p>
        </p:txBody>
      </p:sp>
      <p:sp>
        <p:nvSpPr>
          <p:cNvPr id="318" name="EvalStripeCover 1"/>
          <p:cNvSpPr>
            <a:spLocks noGrp="1"/>
          </p:cNvSpPr>
          <p:nvPr/>
        </p:nvSpPr>
        <p:spPr>
          <a:xfrm>
            <a:off x="4140000" y="1820000"/>
            <a:ext cx="3550000" cy="8000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9" name="EvalRow 1-0"/>
          <p:cNvSpPr>
            <a:spLocks noGrp="1"/>
          </p:cNvSpPr>
          <p:nvPr/>
        </p:nvSpPr>
        <p:spPr>
          <a:xfrm>
            <a:off x="4200000" y="1900000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0" name="EvalRowText 1-0"/>
          <p:cNvSpPr>
            <a:spLocks noGrp="1"/>
          </p:cNvSpPr>
          <p:nvPr/>
        </p:nvSpPr>
        <p:spPr>
          <a:xfrm>
            <a:off x="4260000" y="1900000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Success%: </a:t>
            </a:r>
            <a:r>
              <a:rPr lang="en-US" sz="1000" dirty="0">
                <a:solidFill>
                  <a:srgbClr val="374151"/>
                </a:solidFill>
              </a:rPr>
              <a:t>Resolution rate </a:t>
            </a:r>
          </a:p>
        </p:txBody>
      </p:sp>
      <p:sp>
        <p:nvSpPr>
          <p:cNvPr id="321" name="EvalRow 1-1"/>
          <p:cNvSpPr>
            <a:spLocks noGrp="1"/>
          </p:cNvSpPr>
          <p:nvPr/>
        </p:nvSpPr>
        <p:spPr>
          <a:xfrm>
            <a:off x="4200000" y="2527428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2" name="EvalRowText 1-1"/>
          <p:cNvSpPr>
            <a:spLocks noGrp="1"/>
          </p:cNvSpPr>
          <p:nvPr/>
        </p:nvSpPr>
        <p:spPr>
          <a:xfrm>
            <a:off x="4260000" y="2527428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Applied%: </a:t>
            </a:r>
            <a:r>
              <a:rPr lang="en-US" sz="1000" dirty="0">
                <a:solidFill>
                  <a:srgbClr val="374151"/>
                </a:solidFill>
              </a:rPr>
              <a:t>Patch application rate</a:t>
            </a:r>
          </a:p>
        </p:txBody>
      </p:sp>
      <p:sp>
        <p:nvSpPr>
          <p:cNvPr id="323" name="EvalRow 1-2"/>
          <p:cNvSpPr>
            <a:spLocks noGrp="1"/>
          </p:cNvSpPr>
          <p:nvPr/>
        </p:nvSpPr>
        <p:spPr>
          <a:xfrm>
            <a:off x="4200000" y="3154856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4" name="EvalRowText 1-2"/>
          <p:cNvSpPr>
            <a:spLocks noGrp="1"/>
          </p:cNvSpPr>
          <p:nvPr/>
        </p:nvSpPr>
        <p:spPr>
          <a:xfrm>
            <a:off x="4260000" y="3154856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#Token: </a:t>
            </a:r>
            <a:r>
              <a:rPr lang="en-US" sz="1000" dirty="0">
                <a:solidFill>
                  <a:srgbClr val="374151"/>
                </a:solidFill>
              </a:rPr>
              <a:t>Prompt + completion breakdown</a:t>
            </a:r>
          </a:p>
        </p:txBody>
      </p:sp>
      <p:sp>
        <p:nvSpPr>
          <p:cNvPr id="325" name="EvalRow 1-3"/>
          <p:cNvSpPr>
            <a:spLocks noGrp="1"/>
          </p:cNvSpPr>
          <p:nvPr/>
        </p:nvSpPr>
        <p:spPr>
          <a:xfrm>
            <a:off x="4200000" y="3782284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6" name="EvalRowText 1-3"/>
          <p:cNvSpPr>
            <a:spLocks noGrp="1"/>
          </p:cNvSpPr>
          <p:nvPr/>
        </p:nvSpPr>
        <p:spPr>
          <a:xfrm>
            <a:off x="4260000" y="3782284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RT%: </a:t>
            </a:r>
            <a:r>
              <a:rPr lang="en-US" sz="1000" dirty="0">
                <a:solidFill>
                  <a:srgbClr val="374151"/>
                </a:solidFill>
              </a:rPr>
              <a:t>Runtime from timestamps</a:t>
            </a:r>
          </a:p>
        </p:txBody>
      </p:sp>
      <p:sp>
        <p:nvSpPr>
          <p:cNvPr id="327" name="EvalRow 1-4"/>
          <p:cNvSpPr>
            <a:spLocks noGrp="1"/>
          </p:cNvSpPr>
          <p:nvPr/>
        </p:nvSpPr>
        <p:spPr>
          <a:xfrm>
            <a:off x="4200000" y="4409712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8" name="EvalRowText 1-4"/>
          <p:cNvSpPr>
            <a:spLocks noGrp="1"/>
          </p:cNvSpPr>
          <p:nvPr/>
        </p:nvSpPr>
        <p:spPr>
          <a:xfrm>
            <a:off x="4260000" y="4409712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FV-Micro: </a:t>
            </a:r>
            <a:r>
              <a:rPr lang="en-US" sz="1000" dirty="0">
                <a:solidFill>
                  <a:srgbClr val="374151"/>
                </a:solidFill>
              </a:rPr>
              <a:t>File-level micro accuracy</a:t>
            </a:r>
          </a:p>
        </p:txBody>
      </p:sp>
      <p:sp>
        <p:nvSpPr>
          <p:cNvPr id="329" name="EvalRow 1-5"/>
          <p:cNvSpPr>
            <a:spLocks noGrp="1"/>
          </p:cNvSpPr>
          <p:nvPr/>
        </p:nvSpPr>
        <p:spPr>
          <a:xfrm>
            <a:off x="4200000" y="5037140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0" name="EvalRowText 1-5"/>
          <p:cNvSpPr>
            <a:spLocks noGrp="1"/>
          </p:cNvSpPr>
          <p:nvPr/>
        </p:nvSpPr>
        <p:spPr>
          <a:xfrm>
            <a:off x="4260000" y="5037140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FV-Macro: </a:t>
            </a:r>
            <a:r>
              <a:rPr lang="en-US" sz="1000" dirty="0">
                <a:solidFill>
                  <a:srgbClr val="374151"/>
                </a:solidFill>
              </a:rPr>
              <a:t>File-level macro accuracy</a:t>
            </a:r>
          </a:p>
        </p:txBody>
      </p:sp>
      <p:sp>
        <p:nvSpPr>
          <p:cNvPr id="331" name="EvalRow 1-6"/>
          <p:cNvSpPr>
            <a:spLocks noGrp="1"/>
          </p:cNvSpPr>
          <p:nvPr/>
        </p:nvSpPr>
        <p:spPr>
          <a:xfrm>
            <a:off x="4200000" y="5664568"/>
            <a:ext cx="3430000" cy="6154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2" name="EvalRowText 1-6"/>
          <p:cNvSpPr>
            <a:spLocks noGrp="1"/>
          </p:cNvSpPr>
          <p:nvPr/>
        </p:nvSpPr>
        <p:spPr>
          <a:xfrm>
            <a:off x="4260000" y="5664568"/>
            <a:ext cx="3310000" cy="615428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0D7377"/>
                </a:solidFill>
              </a:rPr>
              <a:t>File%: </a:t>
            </a:r>
            <a:r>
              <a:rPr lang="en-US" sz="1000" dirty="0">
                <a:solidFill>
                  <a:srgbClr val="374151"/>
                </a:solidFill>
              </a:rPr>
              <a:t>File accuracy</a:t>
            </a:r>
          </a:p>
        </p:txBody>
      </p:sp>
      <p:sp>
        <p:nvSpPr>
          <p:cNvPr id="333" name="EvalBg 2"/>
          <p:cNvSpPr>
            <a:spLocks noGrp="1"/>
          </p:cNvSpPr>
          <p:nvPr/>
        </p:nvSpPr>
        <p:spPr>
          <a:xfrm>
            <a:off x="7860000" y="1520000"/>
            <a:ext cx="3550000" cy="480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4" name="EvalStripe 2"/>
          <p:cNvSpPr>
            <a:spLocks noGrp="1"/>
          </p:cNvSpPr>
          <p:nvPr/>
        </p:nvSpPr>
        <p:spPr>
          <a:xfrm>
            <a:off x="7860000" y="1520000"/>
            <a:ext cx="3550000" cy="340000"/>
          </a:xfrm>
          <a:prstGeom prst="roundRect">
            <a:avLst/>
          </a:prstGeom>
          <a:solidFill>
            <a:srgbClr val="6A1B9A"/>
          </a:solidFill>
          <a:ln w="0">
            <a:noFill/>
          </a:ln>
        </p:spPr>
        <p:txBody>
          <a:bodyPr lIns="140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TEST CATEGORIES &amp; TARGETS</a:t>
            </a:r>
          </a:p>
        </p:txBody>
      </p:sp>
      <p:sp>
        <p:nvSpPr>
          <p:cNvPr id="335" name="EvalStripeCover 2"/>
          <p:cNvSpPr>
            <a:spLocks noGrp="1"/>
          </p:cNvSpPr>
          <p:nvPr/>
        </p:nvSpPr>
        <p:spPr>
          <a:xfrm>
            <a:off x="7860000" y="1820000"/>
            <a:ext cx="3550000" cy="8000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6" name="EvalRow 2-0"/>
          <p:cNvSpPr>
            <a:spLocks noGrp="1"/>
          </p:cNvSpPr>
          <p:nvPr/>
        </p:nvSpPr>
        <p:spPr>
          <a:xfrm>
            <a:off x="7920000" y="1900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7" name="EvalRowText 2-0"/>
          <p:cNvSpPr>
            <a:spLocks noGrp="1"/>
          </p:cNvSpPr>
          <p:nvPr/>
        </p:nvSpPr>
        <p:spPr>
          <a:xfrm>
            <a:off x="7980000" y="1900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6A1B9A"/>
                </a:solidFill>
              </a:rPr>
              <a:t>P2P: </a:t>
            </a:r>
            <a:r>
              <a:rPr lang="en-US" sz="1000" dirty="0">
                <a:solidFill>
                  <a:srgbClr val="374151"/>
                </a:solidFill>
              </a:rPr>
              <a:t>Pass-to-Pass: Tests passing before and after patch</a:t>
            </a:r>
          </a:p>
        </p:txBody>
      </p:sp>
      <p:sp>
        <p:nvSpPr>
          <p:cNvPr id="338" name="EvalRow 2-1"/>
          <p:cNvSpPr>
            <a:spLocks noGrp="1"/>
          </p:cNvSpPr>
          <p:nvPr/>
        </p:nvSpPr>
        <p:spPr>
          <a:xfrm>
            <a:off x="7920000" y="2632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9" name="EvalRowText 2-1"/>
          <p:cNvSpPr>
            <a:spLocks noGrp="1"/>
          </p:cNvSpPr>
          <p:nvPr/>
        </p:nvSpPr>
        <p:spPr>
          <a:xfrm>
            <a:off x="7980000" y="2632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6A1B9A"/>
                </a:solidFill>
              </a:rPr>
              <a:t>P2P Target: </a:t>
            </a:r>
            <a:r>
              <a:rPr lang="en-US" sz="1000" dirty="0">
                <a:solidFill>
                  <a:srgbClr val="374151"/>
                </a:solidFill>
              </a:rPr>
              <a:t>100% pass rate - no regressions allowed</a:t>
            </a:r>
          </a:p>
        </p:txBody>
      </p:sp>
      <p:sp>
        <p:nvSpPr>
          <p:cNvPr id="340" name="EvalRow 2-2"/>
          <p:cNvSpPr>
            <a:spLocks noGrp="1"/>
          </p:cNvSpPr>
          <p:nvPr/>
        </p:nvSpPr>
        <p:spPr>
          <a:xfrm>
            <a:off x="7920000" y="3364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" name="EvalRowText 2-2"/>
          <p:cNvSpPr>
            <a:spLocks noGrp="1"/>
          </p:cNvSpPr>
          <p:nvPr/>
        </p:nvSpPr>
        <p:spPr>
          <a:xfrm>
            <a:off x="7980000" y="3364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6A1B9A"/>
                </a:solidFill>
              </a:rPr>
              <a:t>F2P: </a:t>
            </a:r>
            <a:r>
              <a:rPr lang="en-US" sz="1000" dirty="0">
                <a:solidFill>
                  <a:srgbClr val="374151"/>
                </a:solidFill>
              </a:rPr>
              <a:t>Fail-to-Pass: Previously failing tests now pass</a:t>
            </a:r>
          </a:p>
        </p:txBody>
      </p:sp>
      <p:sp>
        <p:nvSpPr>
          <p:cNvPr id="342" name="EvalRow 2-3"/>
          <p:cNvSpPr>
            <a:spLocks noGrp="1"/>
          </p:cNvSpPr>
          <p:nvPr/>
        </p:nvSpPr>
        <p:spPr>
          <a:xfrm>
            <a:off x="7920000" y="4096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3" name="EvalRowText 2-3"/>
          <p:cNvSpPr>
            <a:spLocks noGrp="1"/>
          </p:cNvSpPr>
          <p:nvPr/>
        </p:nvSpPr>
        <p:spPr>
          <a:xfrm>
            <a:off x="7980000" y="4096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6A1B9A"/>
                </a:solidFill>
              </a:rPr>
              <a:t>F2P Target: </a:t>
            </a:r>
            <a:r>
              <a:rPr lang="en-US" sz="1000" dirty="0">
                <a:solidFill>
                  <a:srgbClr val="374151"/>
                </a:solidFill>
              </a:rPr>
              <a:t>&gt;0% - at least partial bug fix required</a:t>
            </a:r>
          </a:p>
        </p:txBody>
      </p:sp>
      <p:sp>
        <p:nvSpPr>
          <p:cNvPr id="344" name="EvalRow 2-4"/>
          <p:cNvSpPr>
            <a:spLocks noGrp="1"/>
          </p:cNvSpPr>
          <p:nvPr/>
        </p:nvSpPr>
        <p:spPr>
          <a:xfrm>
            <a:off x="7920000" y="4828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5" name="EvalRowText 2-4"/>
          <p:cNvSpPr>
            <a:spLocks noGrp="1"/>
          </p:cNvSpPr>
          <p:nvPr/>
        </p:nvSpPr>
        <p:spPr>
          <a:xfrm>
            <a:off x="7980000" y="4828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6A1B9A"/>
                </a:solidFill>
              </a:rPr>
              <a:t>Resolution: </a:t>
            </a:r>
            <a:r>
              <a:rPr lang="en-US" sz="1000" dirty="0">
                <a:solidFill>
                  <a:srgbClr val="374151"/>
                </a:solidFill>
              </a:rPr>
              <a:t>Both P2P and F2P pass for the task</a:t>
            </a:r>
          </a:p>
        </p:txBody>
      </p:sp>
      <p:sp>
        <p:nvSpPr>
          <p:cNvPr id="346" name="EvalRow 2-5"/>
          <p:cNvSpPr>
            <a:spLocks noGrp="1"/>
          </p:cNvSpPr>
          <p:nvPr/>
        </p:nvSpPr>
        <p:spPr>
          <a:xfrm>
            <a:off x="7920000" y="5560000"/>
            <a:ext cx="3430000" cy="7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7" name="EvalRowText 2-5"/>
          <p:cNvSpPr>
            <a:spLocks noGrp="1"/>
          </p:cNvSpPr>
          <p:nvPr/>
        </p:nvSpPr>
        <p:spPr>
          <a:xfrm>
            <a:off x="7980000" y="5560000"/>
            <a:ext cx="331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40000" tIns="30000" bIns="30000" anchor="ctr">
            <a:normAutofit/>
          </a:bodyPr>
          <a:lstStyle/>
          <a:p>
            <a:r>
              <a:rPr lang="en-US" sz="1050" b="1" dirty="0">
                <a:solidFill>
                  <a:srgbClr val="6A1B9A"/>
                </a:solidFill>
              </a:rPr>
              <a:t>Benchmark: </a:t>
            </a:r>
            <a:r>
              <a:rPr lang="en-US" sz="1000" dirty="0">
                <a:solidFill>
                  <a:srgbClr val="374151"/>
                </a:solidFill>
              </a:rPr>
              <a:t>114 total instances · Results in evaluation_details.jsonl</a:t>
            </a:r>
          </a:p>
        </p:txBody>
      </p:sp>
      <p:sp>
        <p:nvSpPr>
          <p:cNvPr id="348" name="EvalArrow 0"/>
          <p:cNvSpPr>
            <a:spLocks noGrp="1"/>
          </p:cNvSpPr>
          <p:nvPr/>
        </p:nvSpPr>
        <p:spPr>
          <a:xfrm rot="5400000">
            <a:off x="3990000" y="3845000"/>
            <a:ext cx="150000" cy="130000"/>
          </a:xfrm>
          <a:prstGeom prst="downArrow">
            <a:avLst/>
          </a:prstGeom>
          <a:solidFill>
            <a:srgbClr val="9E9E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9" name="EvalArrow 1"/>
          <p:cNvSpPr>
            <a:spLocks noGrp="1"/>
          </p:cNvSpPr>
          <p:nvPr/>
        </p:nvSpPr>
        <p:spPr>
          <a:xfrm rot="5400000">
            <a:off x="7710000" y="3845000"/>
            <a:ext cx="150000" cy="130000"/>
          </a:xfrm>
          <a:prstGeom prst="downArrow">
            <a:avLst/>
          </a:prstGeom>
          <a:solidFill>
            <a:srgbClr val="9E9E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962D315-9BE5-C6F0-B1D2-FB059C3F54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119302"/>
              </p:ext>
            </p:extLst>
          </p:nvPr>
        </p:nvGraphicFramePr>
        <p:xfrm>
          <a:off x="1436914" y="1762126"/>
          <a:ext cx="9106679" cy="2354988"/>
        </p:xfrm>
        <a:graphic>
          <a:graphicData uri="http://schemas.openxmlformats.org/drawingml/2006/table">
            <a:tbl>
              <a:tblPr/>
              <a:tblGrid>
                <a:gridCol w="1928123">
                  <a:extLst>
                    <a:ext uri="{9D8B030D-6E8A-4147-A177-3AD203B41FA5}">
                      <a16:colId xmlns:a16="http://schemas.microsoft.com/office/drawing/2014/main" val="220769286"/>
                    </a:ext>
                  </a:extLst>
                </a:gridCol>
                <a:gridCol w="2224760">
                  <a:extLst>
                    <a:ext uri="{9D8B030D-6E8A-4147-A177-3AD203B41FA5}">
                      <a16:colId xmlns:a16="http://schemas.microsoft.com/office/drawing/2014/main" val="1795595043"/>
                    </a:ext>
                  </a:extLst>
                </a:gridCol>
                <a:gridCol w="2224760">
                  <a:extLst>
                    <a:ext uri="{9D8B030D-6E8A-4147-A177-3AD203B41FA5}">
                      <a16:colId xmlns:a16="http://schemas.microsoft.com/office/drawing/2014/main" val="31010715"/>
                    </a:ext>
                  </a:extLst>
                </a:gridCol>
                <a:gridCol w="2729036">
                  <a:extLst>
                    <a:ext uri="{9D8B030D-6E8A-4147-A177-3AD203B41FA5}">
                      <a16:colId xmlns:a16="http://schemas.microsoft.com/office/drawing/2014/main" val="229988706"/>
                    </a:ext>
                  </a:extLst>
                </a:gridCol>
              </a:tblGrid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Metric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Agentless (from paper)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OpenHands</a:t>
                      </a: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 (from paper)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Our Approach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8958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Backbone Model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Gemini-2.5-Pro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Gemini-2.5-Pro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Gemini-2.5-Flash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528627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Model Type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Reasoning (High Cost)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Reasoning (High Cost)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Lightweight (Low Cost)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717607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Architecture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Pipeline-based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Autonomous Agent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Pipeline-based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06641"/>
                  </a:ext>
                </a:extLst>
              </a:tr>
              <a:tr h="1998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Success Rate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12.28%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0.00%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3.51%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72927"/>
                  </a:ext>
                </a:extLst>
              </a:tr>
              <a:tr h="1998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Applied Rate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100.00%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54.39%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29.82%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886941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Reg. Tests (RT%)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74.56%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61.40%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42.11%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53349"/>
                  </a:ext>
                </a:extLst>
              </a:tr>
              <a:tr h="1998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FV-Macro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20.55%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0.29%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5.04%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92193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Avg Tokens/Task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0.29M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0.47M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0.30M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6758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5A5FB-719B-70B2-8C5D-E0941513A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44549-8AF7-D48E-A9DC-4276E61FB3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774FA6-A58F-AB75-4B66-0B266833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8732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4299-6C3B-4127-D98F-0B92A9DF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57F513-A337-0B25-96F4-917A5FE95B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6914" y="1762126"/>
          <a:ext cx="9106679" cy="2354988"/>
        </p:xfrm>
        <a:graphic>
          <a:graphicData uri="http://schemas.openxmlformats.org/drawingml/2006/table">
            <a:tbl>
              <a:tblPr/>
              <a:tblGrid>
                <a:gridCol w="1928123">
                  <a:extLst>
                    <a:ext uri="{9D8B030D-6E8A-4147-A177-3AD203B41FA5}">
                      <a16:colId xmlns:a16="http://schemas.microsoft.com/office/drawing/2014/main" val="220769286"/>
                    </a:ext>
                  </a:extLst>
                </a:gridCol>
                <a:gridCol w="2224760">
                  <a:extLst>
                    <a:ext uri="{9D8B030D-6E8A-4147-A177-3AD203B41FA5}">
                      <a16:colId xmlns:a16="http://schemas.microsoft.com/office/drawing/2014/main" val="1795595043"/>
                    </a:ext>
                  </a:extLst>
                </a:gridCol>
                <a:gridCol w="2224760">
                  <a:extLst>
                    <a:ext uri="{9D8B030D-6E8A-4147-A177-3AD203B41FA5}">
                      <a16:colId xmlns:a16="http://schemas.microsoft.com/office/drawing/2014/main" val="31010715"/>
                    </a:ext>
                  </a:extLst>
                </a:gridCol>
                <a:gridCol w="2729036">
                  <a:extLst>
                    <a:ext uri="{9D8B030D-6E8A-4147-A177-3AD203B41FA5}">
                      <a16:colId xmlns:a16="http://schemas.microsoft.com/office/drawing/2014/main" val="229988706"/>
                    </a:ext>
                  </a:extLst>
                </a:gridCol>
              </a:tblGrid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Metric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Agentless (from paper)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OpenHands</a:t>
                      </a: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 (from paper)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Our Approach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8958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Backbone Model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Gemini-2.5-Pro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Gemini-2.5-Pro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Gemini-2.5-Flash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528627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Model Type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Reasoning (High Cost)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Reasoning (High Cost)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Lightweight (Low Cost)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717607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Architecture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Pipeline-based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Autonomous Agent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Pipeline-based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06641"/>
                  </a:ext>
                </a:extLst>
              </a:tr>
              <a:tr h="1998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Success Rate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12.28%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0.00%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3.51%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72927"/>
                  </a:ext>
                </a:extLst>
              </a:tr>
              <a:tr h="1998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Applied Rate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100.00%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54.39%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29.82%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886941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Reg. Tests (RT%)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74.56%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61.40%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42.11%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53349"/>
                  </a:ext>
                </a:extLst>
              </a:tr>
              <a:tr h="1998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FV-Macro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20.55%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0.29%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FI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5.04%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92193"/>
                  </a:ext>
                </a:extLst>
              </a:tr>
              <a:tr h="2906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Avg Tokens/Task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0.29M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0.47M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0.30M</a:t>
                      </a:r>
                    </a:p>
                  </a:txBody>
                  <a:tcPr marL="41769" marR="41769" marT="10442" marB="10442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6758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D2E64-9500-1ED0-A92F-D5C2AD87F0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5F24F-7F5E-8430-1DF9-EF77A6039E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49B6B4-C0C0-E98E-2BF0-960AAFC4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9B6EC-567E-3F19-41E7-B6902995BF99}"/>
              </a:ext>
            </a:extLst>
          </p:cNvPr>
          <p:cNvSpPr txBox="1"/>
          <p:nvPr/>
        </p:nvSpPr>
        <p:spPr>
          <a:xfrm>
            <a:off x="1542660" y="4757246"/>
            <a:ext cx="9106679" cy="1380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dirty="0">
                <a:latin typeface="+mn-lt"/>
              </a:rPr>
              <a:t>Apply rate gap?: </a:t>
            </a:r>
          </a:p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r>
              <a:rPr lang="en-US" sz="1600" dirty="0"/>
              <a:t>We uses </a:t>
            </a:r>
            <a:r>
              <a:rPr lang="en-US" sz="1600" b="1" dirty="0"/>
              <a:t>File-level</a:t>
            </a:r>
            <a:r>
              <a:rPr lang="en-US" sz="1600" dirty="0"/>
              <a:t> localization → High "Context Pollution" causes Gemini Flash to hallucinate patch syntax.</a:t>
            </a:r>
          </a:p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r>
              <a:rPr lang="en-US" sz="1600" dirty="0"/>
              <a:t>No "Self-Healing" loop to fix minor syntax errors (e.g., whitespace, hunk headers) before submission.</a:t>
            </a:r>
            <a:endParaRPr lang="LID4096" sz="16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8563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>
            <a:spLocks noGrp="1"/>
          </p:cNvSpPr>
          <p:nvPr>
            <p:ph type="title"/>
          </p:nvPr>
        </p:nvSpPr>
        <p:spPr>
          <a:xfrm>
            <a:off x="4429127" y="3044313"/>
            <a:ext cx="3333746" cy="384687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Live Demonstration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BBBCF-64A8-5FE3-CB18-A2FCBA528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33245" y="6473314"/>
            <a:ext cx="2736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6055F-FDFC-F99B-222C-B0CA80CD8A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RCC VoiceAI | Foundations and Applications of Generative AI </a:t>
            </a:r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1E9A7F-7F1A-C397-CF08-59564476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4" y="994335"/>
            <a:ext cx="11345332" cy="41036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Future plans</a:t>
            </a:r>
            <a:endParaRPr lang="LID4096" dirty="0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F63070E0-C190-7551-5198-865295E48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751921"/>
              </p:ext>
            </p:extLst>
          </p:nvPr>
        </p:nvGraphicFramePr>
        <p:xfrm>
          <a:off x="425454" y="1762188"/>
          <a:ext cx="11345332" cy="4699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0169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80A6-529D-4A39-D0FF-B4F73548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7BE01-9B75-2BC8-3B08-60D244BDD2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33245" y="6473314"/>
            <a:ext cx="2736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EC78CF3-7D96-F149-9EBB-0D2F76651527}" type="slidenum">
              <a:rPr lang="en-BG" smtClean="0"/>
              <a:pPr>
                <a:spcAft>
                  <a:spcPts val="600"/>
                </a:spcAft>
              </a:pPr>
              <a:t>11</a:t>
            </a:fld>
            <a:endParaRPr lang="en-B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8BF411-9DCA-787B-A48E-3F71925B9A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4883" y="6473314"/>
            <a:ext cx="10439384" cy="38468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NoCode</a:t>
            </a:r>
            <a:r>
              <a:rPr lang="en-US" dirty="0"/>
              <a:t>-bench | Advanced Topics of Software Engineering</a:t>
            </a:r>
            <a:endParaRPr lang="de-DE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2565A201-5168-69AA-9E8E-8F0205C6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6" y="4468298"/>
            <a:ext cx="11345332" cy="1377390"/>
          </a:xfrm>
        </p:spPr>
        <p:txBody>
          <a:bodyPr wrap="square" anchor="t">
            <a:normAutofit/>
          </a:bodyPr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6E3205A-E620-23D6-3694-1B4C49A9A1F8}"/>
              </a:ext>
            </a:extLst>
          </p:cNvPr>
          <p:cNvSpPr txBox="1">
            <a:spLocks/>
          </p:cNvSpPr>
          <p:nvPr/>
        </p:nvSpPr>
        <p:spPr>
          <a:xfrm>
            <a:off x="96256" y="2777095"/>
            <a:ext cx="11345332" cy="137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30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dirty="0"/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2482543846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olienmaster" id="{4180898F-B2CD-4A5D-BBE5-ED265D1E9843}" vid="{19295360-736D-467D-8932-799BF7EA281E}"/>
    </a:ext>
  </a:extLst>
</a:theme>
</file>

<file path=ppt/theme/theme2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olienmaster" id="{4180898F-B2CD-4A5D-BBE5-ED265D1E9843}" vid="{47EB1BC0-4E69-4407-93AA-A63461F2098F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olienmaster" id="{4180898F-B2CD-4A5D-BBE5-ED265D1E9843}" vid="{301BBC58-FF7B-4F1F-BA14-CD5AD89730FF}"/>
    </a:ext>
  </a:extLst>
</a:theme>
</file>

<file path=ppt/theme/theme4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olienmaster" id="{4180898F-B2CD-4A5D-BBE5-ED265D1E9843}" vid="{A1798567-E9C3-474B-A2EA-74069A7455A5}"/>
    </a:ext>
  </a:extLst>
</a:theme>
</file>

<file path=ppt/theme/theme5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olienmaster" id="{4180898F-B2CD-4A5D-BBE5-ED265D1E9843}" vid="{DD7C72EC-10BA-4371-BD55-EFFD09836D0A}"/>
    </a:ext>
  </a:extLst>
</a:theme>
</file>

<file path=ppt/theme/theme6.xml><?xml version="1.0" encoding="utf-8"?>
<a:theme xmlns:a="http://schemas.openxmlformats.org/drawingml/2006/main" name="TUM_Templa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UM_Template" id="{49637847-5AFF-8D4C-8FD6-F9DD1102C2D0}" vid="{EA62F86D-27D5-C245-A81C-6F7DB2774916}"/>
    </a:ext>
  </a:extLst>
</a:theme>
</file>

<file path=ppt/theme/theme7.xml><?xml version="1.0" encoding="utf-8"?>
<a:theme xmlns:a="http://schemas.openxmlformats.org/drawingml/2006/main" name="1_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8.xml><?xml version="1.0" encoding="utf-8"?>
<a:theme xmlns:a="http://schemas.openxmlformats.org/drawingml/2006/main" name="1_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9.xml><?xml version="1.0" encoding="utf-8"?>
<a:theme xmlns:a="http://schemas.openxmlformats.org/drawingml/2006/main" name="1_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10.xml><?xml version="1.0" encoding="utf-8"?>
<a:theme xmlns:a="http://schemas.openxmlformats.org/drawingml/2006/main" name="1_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11.xml><?xml version="1.0" encoding="utf-8"?>
<a:theme xmlns:a="http://schemas.openxmlformats.org/drawingml/2006/main" name="1_TUM_Templa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UM_Template" id="{49637847-5AFF-8D4C-8FD6-F9DD1102C2D0}" vid="{EA62F86D-27D5-C245-A81C-6F7DB2774916}"/>
    </a:ext>
  </a:extLst>
</a:theme>
</file>

<file path=ppt/theme/theme12.xml><?xml version="1.0" encoding="utf-8"?>
<a:theme xmlns:a="http://schemas.openxmlformats.org/drawingml/2006/main" name="2_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13.xml><?xml version="1.0" encoding="utf-8"?>
<a:theme xmlns:a="http://schemas.openxmlformats.org/drawingml/2006/main" name="2_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14.xml><?xml version="1.0" encoding="utf-8"?>
<a:theme xmlns:a="http://schemas.openxmlformats.org/drawingml/2006/main" name="2_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15.xml><?xml version="1.0" encoding="utf-8"?>
<a:theme xmlns:a="http://schemas.openxmlformats.org/drawingml/2006/main" name="2_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folienmaster</Template>
  <TotalTime>127</TotalTime>
  <Words>1144</Words>
  <Application>Microsoft Office PowerPoint</Application>
  <PresentationFormat>Widescreen</PresentationFormat>
  <Paragraphs>220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11</vt:i4>
      </vt:variant>
    </vt:vector>
  </HeadingPairs>
  <TitlesOfParts>
    <vt:vector size="31" baseType="lpstr">
      <vt:lpstr>Aptos</vt:lpstr>
      <vt:lpstr>Arial</vt:lpstr>
      <vt:lpstr>Calibri</vt:lpstr>
      <vt:lpstr>Roboto</vt:lpstr>
      <vt:lpstr>Symbol</vt:lpstr>
      <vt:lpstr>160104_TUM_Praesentation_p_v1</vt:lpstr>
      <vt:lpstr>Titel 3</vt:lpstr>
      <vt:lpstr>Titel 2</vt:lpstr>
      <vt:lpstr>Kapiteltrenner blau</vt:lpstr>
      <vt:lpstr>Kapiteltrenner schwarz</vt:lpstr>
      <vt:lpstr>TUM_Template</vt:lpstr>
      <vt:lpstr>1_Titel 2</vt:lpstr>
      <vt:lpstr>1_Titel 3</vt:lpstr>
      <vt:lpstr>1_Kapiteltrenner blau</vt:lpstr>
      <vt:lpstr>1_Kapiteltrenner schwarz</vt:lpstr>
      <vt:lpstr>1_TUM_Template</vt:lpstr>
      <vt:lpstr>2_Titel 2</vt:lpstr>
      <vt:lpstr>2_Titel 3</vt:lpstr>
      <vt:lpstr>2_Kapiteltrenner blau</vt:lpstr>
      <vt:lpstr>2_Kapiteltrenner schwarz</vt:lpstr>
      <vt:lpstr>NoCode-bench</vt:lpstr>
      <vt:lpstr>Project Vision</vt:lpstr>
      <vt:lpstr>Project Timeline</vt:lpstr>
      <vt:lpstr>Current Progress</vt:lpstr>
      <vt:lpstr>System Architecture</vt:lpstr>
      <vt:lpstr>Evaluation</vt:lpstr>
      <vt:lpstr>Results comparison</vt:lpstr>
      <vt:lpstr>Results comparison</vt:lpstr>
      <vt:lpstr>Live Demonstration</vt:lpstr>
      <vt:lpstr>Future plans</vt:lpstr>
      <vt:lpstr>Thank you!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Zahari Nedev</dc:creator>
  <cp:lastModifiedBy>Dai Hieu Bui</cp:lastModifiedBy>
  <cp:revision>25</cp:revision>
  <dcterms:created xsi:type="dcterms:W3CDTF">2025-10-18T12:41:57Z</dcterms:created>
  <dcterms:modified xsi:type="dcterms:W3CDTF">2026-02-02T15:52:07Z</dcterms:modified>
</cp:coreProperties>
</file>